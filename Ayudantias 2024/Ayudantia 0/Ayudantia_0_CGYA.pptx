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20" r:id="rId1"/>
  </p:sldMasterIdLst>
  <p:sldIdLst>
    <p:sldId id="256" r:id="rId2"/>
    <p:sldId id="259" r:id="rId3"/>
    <p:sldId id="266" r:id="rId4"/>
    <p:sldId id="273" r:id="rId5"/>
    <p:sldId id="267" r:id="rId6"/>
    <p:sldId id="269" r:id="rId7"/>
    <p:sldId id="260" r:id="rId8"/>
    <p:sldId id="262" r:id="rId9"/>
    <p:sldId id="270" r:id="rId10"/>
    <p:sldId id="271" r:id="rId11"/>
    <p:sldId id="257" r:id="rId12"/>
    <p:sldId id="258" r:id="rId13"/>
    <p:sldId id="261" r:id="rId14"/>
    <p:sldId id="268" r:id="rId15"/>
    <p:sldId id="263" r:id="rId16"/>
    <p:sldId id="264" r:id="rId17"/>
    <p:sldId id="265" r:id="rId18"/>
  </p:sldIdLst>
  <p:sldSz cx="9144000" cy="5143500" type="screen16x9"/>
  <p:notesSz cx="9144000" cy="51435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3" d="100"/>
          <a:sy n="103" d="100"/>
        </p:scale>
        <p:origin x="874" y="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2813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28700" y="1352554"/>
            <a:ext cx="7086600" cy="1368822"/>
          </a:xfrm>
        </p:spPr>
        <p:txBody>
          <a:bodyPr anchor="b">
            <a:normAutofit/>
          </a:bodyPr>
          <a:lstStyle>
            <a:lvl1pPr algn="l"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2724151"/>
            <a:ext cx="7086600" cy="514350"/>
          </a:xfrm>
        </p:spPr>
        <p:txBody>
          <a:bodyPr>
            <a:normAutofit/>
          </a:bodyPr>
          <a:lstStyle>
            <a:lvl1pPr marL="0" indent="0" algn="l">
              <a:buNone/>
              <a:defRPr sz="15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932171" y="3235746"/>
            <a:ext cx="2183130" cy="280982"/>
          </a:xfrm>
        </p:spPr>
        <p:txBody>
          <a:bodyPr/>
          <a:lstStyle/>
          <a:p>
            <a:fld id="{1D8BD707-D9CF-40AE-B4C6-C98DA3205C09}" type="datetimeFigureOut">
              <a:rPr lang="en-US" smtClean="0"/>
              <a:t>4/4/2024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028700" y="3242884"/>
            <a:ext cx="4800600" cy="273844"/>
          </a:xfrm>
        </p:spPr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57900" y="1073150"/>
            <a:ext cx="2057400" cy="273844"/>
          </a:xfr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42808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620164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2813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565150"/>
            <a:ext cx="8115299" cy="2101451"/>
          </a:xfrm>
        </p:spPr>
        <p:txBody>
          <a:bodyPr anchor="b">
            <a:normAutofit/>
          </a:bodyPr>
          <a:lstStyle>
            <a:lvl1pPr algn="r">
              <a:defRPr sz="3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350" y="2731294"/>
            <a:ext cx="7867650" cy="716756"/>
          </a:xfrm>
        </p:spPr>
        <p:txBody>
          <a:bodyPr>
            <a:normAutofit/>
          </a:bodyPr>
          <a:lstStyle>
            <a:lvl1pPr marL="0" indent="0" algn="r">
              <a:buNone/>
              <a:defRPr sz="165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60839" y="285750"/>
            <a:ext cx="2183130" cy="273844"/>
          </a:xfrm>
        </p:spPr>
        <p:txBody>
          <a:bodyPr/>
          <a:lstStyle>
            <a:lvl1pPr algn="r">
              <a:defRPr/>
            </a:lvl1pPr>
          </a:lstStyle>
          <a:p>
            <a:fld id="{1D8BD707-D9CF-40AE-B4C6-C98DA3205C09}" type="datetimeFigureOut">
              <a:rPr lang="en-US" smtClean="0"/>
              <a:t>4/4/2024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4350" y="285751"/>
            <a:ext cx="5243619" cy="273049"/>
          </a:xfrm>
        </p:spPr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146839" y="285750"/>
            <a:ext cx="482811" cy="273844"/>
          </a:xfr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109906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4350" y="1645920"/>
            <a:ext cx="4000500" cy="301809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645920"/>
            <a:ext cx="4000500" cy="301809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58791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1700" y="571500"/>
            <a:ext cx="6457950" cy="97155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7" y="1637852"/>
            <a:ext cx="3809993" cy="617934"/>
          </a:xfrm>
        </p:spPr>
        <p:txBody>
          <a:bodyPr anchor="b">
            <a:normAutofit/>
          </a:bodyPr>
          <a:lstStyle>
            <a:lvl1pPr marL="0" indent="0">
              <a:buNone/>
              <a:defRPr sz="21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351" y="2349500"/>
            <a:ext cx="3983831" cy="231451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00600" y="1637852"/>
            <a:ext cx="3829050" cy="617934"/>
          </a:xfrm>
        </p:spPr>
        <p:txBody>
          <a:bodyPr anchor="b">
            <a:normAutofit/>
          </a:bodyPr>
          <a:lstStyle>
            <a:lvl1pPr marL="0" indent="0">
              <a:buNone/>
              <a:defRPr sz="21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349500"/>
            <a:ext cx="4000500" cy="231451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4/4/2024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555182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602665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4/4/2024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922602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1143000"/>
            <a:ext cx="3086100" cy="1200150"/>
          </a:xfrm>
        </p:spPr>
        <p:txBody>
          <a:bodyPr anchor="b"/>
          <a:lstStyle>
            <a:lvl1pPr algn="l"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46686" y="560070"/>
            <a:ext cx="4882964" cy="4103944"/>
          </a:xfrm>
        </p:spPr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0" y="2343150"/>
            <a:ext cx="3086100" cy="2320864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148077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1143000"/>
            <a:ext cx="5154930" cy="1200150"/>
          </a:xfrm>
        </p:spPr>
        <p:txBody>
          <a:bodyPr anchor="b"/>
          <a:lstStyle>
            <a:lvl1pPr algn="l"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895928" y="563431"/>
            <a:ext cx="2733722" cy="410058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0" y="2343150"/>
            <a:ext cx="5154930" cy="2320864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184915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33" y="3523021"/>
            <a:ext cx="8116526" cy="614516"/>
          </a:xfrm>
        </p:spPr>
        <p:txBody>
          <a:bodyPr anchor="b"/>
          <a:lstStyle>
            <a:lvl1pPr algn="l"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1295" y="706080"/>
            <a:ext cx="8116380" cy="260862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0" y="4137537"/>
            <a:ext cx="8115300" cy="526477"/>
          </a:xfrm>
        </p:spPr>
        <p:txBody>
          <a:bodyPr/>
          <a:lstStyle>
            <a:lvl1pPr marL="0" indent="0" algn="l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611288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2813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565150"/>
            <a:ext cx="8115300" cy="2101850"/>
          </a:xfrm>
        </p:spPr>
        <p:txBody>
          <a:bodyPr anchor="ctr"/>
          <a:lstStyle>
            <a:lvl1pPr algn="l"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350" y="2736850"/>
            <a:ext cx="7597887" cy="749300"/>
          </a:xfrm>
        </p:spPr>
        <p:txBody>
          <a:bodyPr anchor="ctr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860839" y="285750"/>
            <a:ext cx="2183130" cy="273844"/>
          </a:xfrm>
        </p:spPr>
        <p:txBody>
          <a:bodyPr/>
          <a:lstStyle>
            <a:lvl1pPr algn="r">
              <a:defRPr/>
            </a:lvl1pPr>
          </a:lstStyle>
          <a:p>
            <a:fld id="{1D8BD707-D9CF-40AE-B4C6-C98DA3205C09}" type="datetimeFigureOut">
              <a:rPr lang="en-US" smtClean="0"/>
              <a:t>4/4/2024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14350" y="284956"/>
            <a:ext cx="5243619" cy="273844"/>
          </a:xfrm>
        </p:spPr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146839" y="285750"/>
            <a:ext cx="482811" cy="273844"/>
          </a:xfr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143817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2813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351" y="565150"/>
            <a:ext cx="7613650" cy="1953371"/>
          </a:xfrm>
        </p:spPr>
        <p:txBody>
          <a:bodyPr anchor="ctr"/>
          <a:lstStyle>
            <a:lvl1pPr algn="l"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977899" y="2524168"/>
            <a:ext cx="7194552" cy="33333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351" y="2969897"/>
            <a:ext cx="7613650" cy="509903"/>
          </a:xfrm>
        </p:spPr>
        <p:txBody>
          <a:bodyPr anchor="ctr">
            <a:normAutofit/>
          </a:bodyPr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860839" y="285750"/>
            <a:ext cx="2183130" cy="273844"/>
          </a:xfrm>
        </p:spPr>
        <p:txBody>
          <a:bodyPr/>
          <a:lstStyle>
            <a:lvl1pPr algn="r">
              <a:defRPr/>
            </a:lvl1pPr>
          </a:lstStyle>
          <a:p>
            <a:fld id="{1D8BD707-D9CF-40AE-B4C6-C98DA3205C09}" type="datetimeFigureOut">
              <a:rPr lang="en-US" smtClean="0"/>
              <a:t>4/4/2024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14350" y="284956"/>
            <a:ext cx="5243619" cy="273844"/>
          </a:xfrm>
        </p:spPr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146839" y="285750"/>
            <a:ext cx="482811" cy="273844"/>
          </a:xfr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  <p:sp>
        <p:nvSpPr>
          <p:cNvPr id="9" name="TextBox 8"/>
          <p:cNvSpPr txBox="1"/>
          <p:nvPr/>
        </p:nvSpPr>
        <p:spPr>
          <a:xfrm>
            <a:off x="357188" y="700088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38173" y="2025968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869752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2813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371" y="843526"/>
            <a:ext cx="7609640" cy="1883876"/>
          </a:xfrm>
        </p:spPr>
        <p:txBody>
          <a:bodyPr anchor="b"/>
          <a:lstStyle>
            <a:lvl1pPr algn="l"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350" y="2736237"/>
            <a:ext cx="7608491" cy="749914"/>
          </a:xfrm>
        </p:spPr>
        <p:txBody>
          <a:bodyPr anchor="t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860839" y="284163"/>
            <a:ext cx="2183130" cy="273844"/>
          </a:xfrm>
        </p:spPr>
        <p:txBody>
          <a:bodyPr/>
          <a:lstStyle>
            <a:lvl1pPr algn="r">
              <a:defRPr/>
            </a:lvl1pPr>
          </a:lstStyle>
          <a:p>
            <a:fld id="{1D8BD707-D9CF-40AE-B4C6-C98DA3205C09}" type="datetimeFigureOut">
              <a:rPr lang="en-US" smtClean="0"/>
              <a:t>4/4/2024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14350" y="284163"/>
            <a:ext cx="5243619" cy="273844"/>
          </a:xfrm>
        </p:spPr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146839" y="285750"/>
            <a:ext cx="482811" cy="273844"/>
          </a:xfr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968069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171701" y="571500"/>
            <a:ext cx="6457949" cy="9779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14350" y="1651560"/>
            <a:ext cx="2592324" cy="462990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14349" y="2178424"/>
            <a:ext cx="2592324" cy="2485599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76600" y="1650999"/>
            <a:ext cx="2592324" cy="469901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275144" y="2178050"/>
            <a:ext cx="2592324" cy="248596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038850" y="1644649"/>
            <a:ext cx="2592324" cy="469901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6038851" y="2178424"/>
            <a:ext cx="2592324" cy="2485599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850428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171701" y="571500"/>
            <a:ext cx="6457949" cy="97155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16463" y="3143250"/>
            <a:ext cx="2588687" cy="512074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16463" y="1771650"/>
            <a:ext cx="2588687" cy="1143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16463" y="3655323"/>
            <a:ext cx="2588687" cy="1008691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80698" y="3143250"/>
            <a:ext cx="2586701" cy="512074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280697" y="1771650"/>
            <a:ext cx="2586702" cy="1143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280699" y="3655323"/>
            <a:ext cx="2586701" cy="1008691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037299" y="3143250"/>
            <a:ext cx="2592352" cy="512074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037391" y="1771650"/>
            <a:ext cx="2585909" cy="1143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6037299" y="3655321"/>
            <a:ext cx="2589334" cy="1008691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30702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4350" y="1645920"/>
            <a:ext cx="8115300" cy="3018094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51696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281362"/>
            <a:ext cx="9144000" cy="1862138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6600" y="558800"/>
            <a:ext cx="1543050" cy="2927350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8350" y="558800"/>
            <a:ext cx="6153151" cy="2927350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60839" y="284956"/>
            <a:ext cx="2183130" cy="273844"/>
          </a:xfrm>
        </p:spPr>
        <p:txBody>
          <a:bodyPr/>
          <a:lstStyle>
            <a:lvl1pPr algn="r">
              <a:defRPr/>
            </a:lvl1pPr>
          </a:lstStyle>
          <a:p>
            <a:fld id="{1D8BD707-D9CF-40AE-B4C6-C98DA3205C09}" type="datetimeFigureOut">
              <a:rPr lang="en-US" smtClean="0"/>
              <a:t>4/4/2024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4350" y="285750"/>
            <a:ext cx="5243619" cy="273844"/>
          </a:xfrm>
        </p:spPr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146839" y="285750"/>
            <a:ext cx="482811" cy="273844"/>
          </a:xfr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8343859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161524" y="83360"/>
            <a:ext cx="2820950" cy="482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4/4/2024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6854532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4/4/2024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784735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081088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71700" y="573280"/>
            <a:ext cx="6457950" cy="969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4350" y="1645920"/>
            <a:ext cx="8115300" cy="30180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46520" y="4767263"/>
            <a:ext cx="218313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4/4/2024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4350" y="4766884"/>
            <a:ext cx="58293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72250" y="285750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5673919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  <p:sldLayoutId id="2147483732" r:id="rId12"/>
    <p:sldLayoutId id="2147483733" r:id="rId13"/>
    <p:sldLayoutId id="2147483734" r:id="rId14"/>
    <p:sldLayoutId id="2147483735" r:id="rId15"/>
    <p:sldLayoutId id="2147483736" r:id="rId16"/>
    <p:sldLayoutId id="2147483737" r:id="rId17"/>
    <p:sldLayoutId id="2147483738" r:id="rId18"/>
    <p:sldLayoutId id="2147483739" r:id="rId19"/>
  </p:sldLayoutIdLst>
  <p:txStyles>
    <p:titleStyle>
      <a:lvl1pPr algn="r" defTabSz="685800" rtl="0" eaLnBrk="1" latinLnBrk="0" hangingPunct="1">
        <a:lnSpc>
          <a:spcPct val="90000"/>
        </a:lnSpc>
        <a:spcBef>
          <a:spcPct val="0"/>
        </a:spcBef>
        <a:buNone/>
        <a:defRPr sz="3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65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hyperlink" Target="https://unefavlppetroleo.blogspot.com/2014/07/unidad-1-diagrama-de-flujo.html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1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1000" y="651935"/>
            <a:ext cx="8206740" cy="1893467"/>
          </a:xfrm>
          <a:prstGeom prst="rect">
            <a:avLst/>
          </a:prstGeom>
          <a:solidFill>
            <a:srgbClr val="1B4587"/>
          </a:solidFill>
        </p:spPr>
        <p:txBody>
          <a:bodyPr vert="horz" wrap="square" lIns="0" tIns="229235" rIns="0" bIns="0" rtlCol="0">
            <a:spAutoFit/>
          </a:bodyPr>
          <a:lstStyle/>
          <a:p>
            <a:pPr marL="947419" marR="949325" indent="106045">
              <a:lnSpc>
                <a:spcPct val="100000"/>
              </a:lnSpc>
              <a:spcBef>
                <a:spcPts val="1805"/>
              </a:spcBef>
            </a:pPr>
            <a:r>
              <a:rPr lang="es-MX" spc="-5" dirty="0"/>
              <a:t>C</a:t>
            </a:r>
            <a:r>
              <a:rPr spc="-5" dirty="0" err="1"/>
              <a:t>omputación</a:t>
            </a:r>
            <a:r>
              <a:rPr spc="-5" dirty="0"/>
              <a:t> gráfica </a:t>
            </a:r>
            <a:r>
              <a:rPr dirty="0"/>
              <a:t>y </a:t>
            </a:r>
            <a:r>
              <a:rPr spc="-5" dirty="0"/>
              <a:t>aplicaciones: </a:t>
            </a:r>
            <a:r>
              <a:rPr dirty="0"/>
              <a:t> </a:t>
            </a:r>
            <a:r>
              <a:rPr spc="-5" dirty="0"/>
              <a:t>Introducción</a:t>
            </a:r>
            <a:r>
              <a:rPr spc="-35" dirty="0"/>
              <a:t> </a:t>
            </a:r>
            <a:r>
              <a:rPr dirty="0"/>
              <a:t>a</a:t>
            </a:r>
            <a:r>
              <a:rPr spc="-25" dirty="0"/>
              <a:t> </a:t>
            </a:r>
            <a:r>
              <a:rPr spc="-5" dirty="0"/>
              <a:t>la</a:t>
            </a:r>
            <a:r>
              <a:rPr spc="-30" dirty="0"/>
              <a:t> </a:t>
            </a:r>
            <a:r>
              <a:rPr dirty="0" err="1"/>
              <a:t>computa</a:t>
            </a:r>
            <a:r>
              <a:rPr lang="es-MX" dirty="0"/>
              <a:t>c</a:t>
            </a:r>
            <a:r>
              <a:rPr dirty="0"/>
              <a:t>ion</a:t>
            </a:r>
            <a:r>
              <a:rPr spc="-25" dirty="0"/>
              <a:t> </a:t>
            </a:r>
            <a:r>
              <a:rPr spc="-5" dirty="0" err="1"/>
              <a:t>gráfica</a:t>
            </a:r>
            <a:br>
              <a:rPr lang="es-MX" spc="-5" dirty="0"/>
            </a:br>
            <a:r>
              <a:rPr lang="es-CL" spc="-5" dirty="0"/>
              <a:t>Ayudantía 1</a:t>
            </a:r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3145790" y="2750135"/>
            <a:ext cx="2852420" cy="226594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Arial"/>
                <a:cs typeface="Arial"/>
              </a:rPr>
              <a:t>COM3201-</a:t>
            </a:r>
            <a:r>
              <a:rPr lang="es-MX" sz="1800" b="1" spc="-5" dirty="0">
                <a:latin typeface="Arial"/>
                <a:cs typeface="Arial"/>
              </a:rPr>
              <a:t>1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es-MX" sz="1800" b="1" spc="-5" dirty="0">
                <a:latin typeface="Arial"/>
                <a:cs typeface="Arial"/>
              </a:rPr>
              <a:t>Profesores: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es-MX" b="1" spc="-5" dirty="0">
                <a:latin typeface="Arial"/>
                <a:cs typeface="Arial"/>
              </a:rPr>
              <a:t>Alfonso </a:t>
            </a:r>
            <a:r>
              <a:rPr lang="es-MX" b="1" spc="-5" dirty="0" err="1">
                <a:latin typeface="Arial"/>
                <a:cs typeface="Arial"/>
              </a:rPr>
              <a:t>Ehijo</a:t>
            </a:r>
            <a:endParaRPr lang="es-MX" b="1" spc="-5" dirty="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es-MX" sz="1800" b="1" spc="-5" dirty="0">
                <a:latin typeface="Arial"/>
                <a:cs typeface="Arial"/>
              </a:rPr>
              <a:t>Ignacio Bugueño</a:t>
            </a: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850" dirty="0">
              <a:latin typeface="Arial"/>
              <a:cs typeface="Arial"/>
            </a:endParaRPr>
          </a:p>
          <a:p>
            <a:pPr marL="12700" marR="5080" indent="-3810" algn="ctr">
              <a:lnSpc>
                <a:spcPct val="100699"/>
              </a:lnSpc>
            </a:pPr>
            <a:r>
              <a:rPr lang="es-MX" sz="1800" b="1" spc="-5" dirty="0">
                <a:latin typeface="Arial"/>
                <a:cs typeface="Arial"/>
              </a:rPr>
              <a:t>Ayudante</a:t>
            </a:r>
          </a:p>
          <a:p>
            <a:pPr marL="12700" marR="5080" indent="-3810" algn="ctr">
              <a:lnSpc>
                <a:spcPct val="100699"/>
              </a:lnSpc>
            </a:pPr>
            <a:r>
              <a:rPr lang="es-MX" sz="1800" b="1" spc="-5" dirty="0">
                <a:latin typeface="Arial"/>
                <a:cs typeface="Arial"/>
              </a:rPr>
              <a:t>Alan E. Molina H.</a:t>
            </a:r>
            <a:endParaRPr lang="es-MX" sz="1800" b="1" dirty="0">
              <a:latin typeface="Arial"/>
              <a:cs typeface="Arial"/>
            </a:endParaRPr>
          </a:p>
          <a:p>
            <a:pPr marL="12700" marR="5080" indent="-3810" algn="ctr">
              <a:lnSpc>
                <a:spcPct val="100699"/>
              </a:lnSpc>
            </a:pPr>
            <a:r>
              <a:rPr lang="es-CL" sz="1800" dirty="0">
                <a:latin typeface="Arial"/>
                <a:cs typeface="Arial"/>
              </a:rPr>
              <a:t>alan.molina@uoh.cl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36777" y="127424"/>
            <a:ext cx="5180965" cy="2271395"/>
          </a:xfrm>
          <a:custGeom>
            <a:avLst/>
            <a:gdLst/>
            <a:ahLst/>
            <a:cxnLst/>
            <a:rect l="l" t="t" r="r" b="b"/>
            <a:pathLst>
              <a:path w="5180965" h="2271395">
                <a:moveTo>
                  <a:pt x="20222" y="2271299"/>
                </a:moveTo>
                <a:lnTo>
                  <a:pt x="38222" y="0"/>
                </a:lnTo>
              </a:path>
              <a:path w="5180965" h="2271395">
                <a:moveTo>
                  <a:pt x="0" y="6900"/>
                </a:moveTo>
                <a:lnTo>
                  <a:pt x="5180699" y="0"/>
                </a:lnTo>
              </a:path>
            </a:pathLst>
          </a:custGeom>
          <a:ln w="76199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794377" y="2718224"/>
            <a:ext cx="5180965" cy="2271395"/>
          </a:xfrm>
          <a:custGeom>
            <a:avLst/>
            <a:gdLst/>
            <a:ahLst/>
            <a:cxnLst/>
            <a:rect l="l" t="t" r="r" b="b"/>
            <a:pathLst>
              <a:path w="5180965" h="2271395">
                <a:moveTo>
                  <a:pt x="5160477" y="0"/>
                </a:moveTo>
                <a:lnTo>
                  <a:pt x="5142477" y="2271299"/>
                </a:lnTo>
              </a:path>
              <a:path w="5180965" h="2271395">
                <a:moveTo>
                  <a:pt x="5180700" y="2264399"/>
                </a:moveTo>
                <a:lnTo>
                  <a:pt x="0" y="2271299"/>
                </a:lnTo>
              </a:path>
            </a:pathLst>
          </a:custGeom>
          <a:ln w="76199">
            <a:solidFill>
              <a:srgbClr val="0637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61524" y="83360"/>
            <a:ext cx="281622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Python</a:t>
            </a: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384725" y="912572"/>
            <a:ext cx="5789930" cy="161326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5" dirty="0">
                <a:latin typeface="Arial"/>
                <a:cs typeface="Arial"/>
              </a:rPr>
              <a:t>Sintaxis</a:t>
            </a:r>
            <a:endParaRPr sz="16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650" dirty="0">
              <a:latin typeface="Arial"/>
              <a:cs typeface="Arial"/>
            </a:endParaRPr>
          </a:p>
          <a:p>
            <a:pPr marL="469900" indent="-351790">
              <a:lnSpc>
                <a:spcPct val="100000"/>
              </a:lnSpc>
              <a:buChar char="●"/>
              <a:tabLst>
                <a:tab pos="469265" algn="l"/>
                <a:tab pos="469900" algn="l"/>
              </a:tabLst>
            </a:pPr>
            <a:r>
              <a:rPr sz="1600" spc="-5" dirty="0" err="1">
                <a:latin typeface="Arial MT"/>
                <a:cs typeface="Arial MT"/>
              </a:rPr>
              <a:t>Identificadores</a:t>
            </a:r>
            <a:r>
              <a:rPr lang="es-MX" sz="1600" spc="-5" dirty="0">
                <a:latin typeface="Arial MT"/>
                <a:cs typeface="Arial MT"/>
              </a:rPr>
              <a:t> (nombre para variable, funciones, </a:t>
            </a:r>
            <a:r>
              <a:rPr lang="es-MX" sz="1600" spc="-5" dirty="0" err="1">
                <a:latin typeface="Arial MT"/>
                <a:cs typeface="Arial MT"/>
              </a:rPr>
              <a:t>etc</a:t>
            </a:r>
            <a:r>
              <a:rPr lang="es-MX" sz="1600" spc="-5" dirty="0">
                <a:latin typeface="Arial MT"/>
                <a:cs typeface="Arial MT"/>
              </a:rPr>
              <a:t>)</a:t>
            </a:r>
            <a:endParaRPr sz="1600" dirty="0">
              <a:latin typeface="Arial MT"/>
              <a:cs typeface="Arial MT"/>
            </a:endParaRPr>
          </a:p>
          <a:p>
            <a:pPr marL="469900" indent="-351790">
              <a:lnSpc>
                <a:spcPct val="100000"/>
              </a:lnSpc>
              <a:spcBef>
                <a:spcPts val="254"/>
              </a:spcBef>
              <a:buChar char="●"/>
              <a:tabLst>
                <a:tab pos="469265" algn="l"/>
                <a:tab pos="469900" algn="l"/>
              </a:tabLst>
            </a:pPr>
            <a:r>
              <a:rPr sz="1600" spc="-5" dirty="0">
                <a:latin typeface="Arial MT"/>
                <a:cs typeface="Arial MT"/>
              </a:rPr>
              <a:t>Letras,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underscore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(_)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y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números</a:t>
            </a:r>
            <a:endParaRPr sz="1600" dirty="0">
              <a:latin typeface="Arial MT"/>
              <a:cs typeface="Arial MT"/>
            </a:endParaRPr>
          </a:p>
          <a:p>
            <a:pPr marL="469900" indent="-351790">
              <a:lnSpc>
                <a:spcPct val="100000"/>
              </a:lnSpc>
              <a:spcBef>
                <a:spcPts val="254"/>
              </a:spcBef>
              <a:buChar char="●"/>
              <a:tabLst>
                <a:tab pos="469265" algn="l"/>
                <a:tab pos="469900" algn="l"/>
              </a:tabLst>
            </a:pPr>
            <a:r>
              <a:rPr sz="1600" spc="-5" dirty="0">
                <a:latin typeface="Arial MT"/>
                <a:cs typeface="Arial MT"/>
              </a:rPr>
              <a:t>No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usar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palabras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 err="1">
                <a:latin typeface="Arial MT"/>
                <a:cs typeface="Arial MT"/>
              </a:rPr>
              <a:t>reservadas</a:t>
            </a:r>
            <a:r>
              <a:rPr lang="es-MX" sz="1600" dirty="0">
                <a:latin typeface="Arial MT"/>
                <a:cs typeface="Arial MT"/>
              </a:rPr>
              <a:t>. Como: false, continue.</a:t>
            </a:r>
            <a:endParaRPr sz="1600" dirty="0">
              <a:latin typeface="Arial MT"/>
              <a:cs typeface="Arial MT"/>
            </a:endParaRPr>
          </a:p>
          <a:p>
            <a:pPr marL="469900" indent="-351790">
              <a:lnSpc>
                <a:spcPct val="100000"/>
              </a:lnSpc>
              <a:spcBef>
                <a:spcPts val="254"/>
              </a:spcBef>
              <a:buChar char="●"/>
              <a:tabLst>
                <a:tab pos="469265" algn="l"/>
                <a:tab pos="469900" algn="l"/>
              </a:tabLst>
            </a:pPr>
            <a:r>
              <a:rPr sz="1600" spc="-5" dirty="0">
                <a:latin typeface="Arial MT"/>
                <a:cs typeface="Arial MT"/>
              </a:rPr>
              <a:t>Nombre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de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clases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comienzan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con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mayúscula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(convención)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84725" y="3198571"/>
            <a:ext cx="8375015" cy="15824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5" dirty="0">
                <a:latin typeface="Arial"/>
                <a:cs typeface="Arial"/>
              </a:rPr>
              <a:t>Líneas</a:t>
            </a:r>
            <a:r>
              <a:rPr sz="1600" b="1" spc="-3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e</a:t>
            </a:r>
            <a:r>
              <a:rPr sz="1600" b="1" spc="-35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indentación:</a:t>
            </a:r>
            <a:endParaRPr sz="16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650" dirty="0">
              <a:latin typeface="Arial"/>
              <a:cs typeface="Arial"/>
            </a:endParaRPr>
          </a:p>
          <a:p>
            <a:pPr marL="469900" indent="-351790">
              <a:lnSpc>
                <a:spcPct val="100000"/>
              </a:lnSpc>
              <a:buChar char="●"/>
              <a:tabLst>
                <a:tab pos="469265" algn="l"/>
                <a:tab pos="469900" algn="l"/>
              </a:tabLst>
            </a:pPr>
            <a:r>
              <a:rPr sz="1600" spc="-5" dirty="0">
                <a:latin typeface="Arial MT"/>
                <a:cs typeface="Arial MT"/>
              </a:rPr>
              <a:t>Bloques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se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delimitan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con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indentación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de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líneas</a:t>
            </a:r>
            <a:endParaRPr sz="1600" dirty="0">
              <a:latin typeface="Arial MT"/>
              <a:cs typeface="Arial MT"/>
            </a:endParaRPr>
          </a:p>
          <a:p>
            <a:pPr marL="469900" indent="-351790">
              <a:lnSpc>
                <a:spcPct val="100000"/>
              </a:lnSpc>
              <a:spcBef>
                <a:spcPts val="254"/>
              </a:spcBef>
              <a:buChar char="●"/>
              <a:tabLst>
                <a:tab pos="469265" algn="l"/>
                <a:tab pos="469900" algn="l"/>
              </a:tabLst>
            </a:pPr>
            <a:r>
              <a:rPr sz="1600" spc="-5" dirty="0">
                <a:latin typeface="Arial MT"/>
                <a:cs typeface="Arial MT"/>
              </a:rPr>
              <a:t>No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se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utilizan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llaves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{}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ni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punto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y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coma</a:t>
            </a:r>
            <a:r>
              <a:rPr sz="1600" spc="4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;</a:t>
            </a:r>
          </a:p>
          <a:p>
            <a:pPr marL="469900" indent="-351790">
              <a:lnSpc>
                <a:spcPct val="100000"/>
              </a:lnSpc>
              <a:spcBef>
                <a:spcPts val="254"/>
              </a:spcBef>
              <a:buChar char="●"/>
              <a:tabLst>
                <a:tab pos="469265" algn="l"/>
                <a:tab pos="469900" algn="l"/>
              </a:tabLst>
            </a:pPr>
            <a:r>
              <a:rPr sz="1600" spc="-5" dirty="0">
                <a:latin typeface="Arial MT"/>
                <a:cs typeface="Arial MT"/>
              </a:rPr>
              <a:t>Comentarios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con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#</a:t>
            </a: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650" dirty="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98225" y="847675"/>
            <a:ext cx="1134074" cy="113407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>
            <a:extLst>
              <a:ext uri="{FF2B5EF4-FFF2-40B4-BE49-F238E27FC236}">
                <a16:creationId xmlns:a16="http://schemas.microsoft.com/office/drawing/2014/main" id="{270733C3-47BE-F333-4D58-524678573BD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04800" y="57150"/>
            <a:ext cx="7448549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MX" spc="-5" dirty="0"/>
              <a:t>Elementos básicos de </a:t>
            </a:r>
            <a:r>
              <a:rPr lang="es-MX" spc="-5" dirty="0" err="1"/>
              <a:t>python</a:t>
            </a:r>
            <a:endParaRPr dirty="0"/>
          </a:p>
        </p:txBody>
      </p:sp>
      <p:pic>
        <p:nvPicPr>
          <p:cNvPr id="2050" name="Picture 2" descr="¿Cómo es la sintaxis básica de Python? 🐍 | EDteam">
            <a:extLst>
              <a:ext uri="{FF2B5EF4-FFF2-40B4-BE49-F238E27FC236}">
                <a16:creationId xmlns:a16="http://schemas.microsoft.com/office/drawing/2014/main" id="{CCFD01E0-6F1C-8393-00C7-DF9ED5928D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825" y="666750"/>
            <a:ext cx="7448550" cy="42727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52172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6DF2BD-45C5-107C-8976-BDACD495E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3200" y="1962150"/>
            <a:ext cx="2186104" cy="969771"/>
          </a:xfrm>
        </p:spPr>
        <p:txBody>
          <a:bodyPr/>
          <a:lstStyle/>
          <a:p>
            <a:r>
              <a:rPr lang="es-MX" dirty="0"/>
              <a:t>Tipos de datos</a:t>
            </a:r>
            <a:endParaRPr lang="es-CL" dirty="0"/>
          </a:p>
        </p:txBody>
      </p:sp>
      <p:pic>
        <p:nvPicPr>
          <p:cNvPr id="1026" name="Picture 2" descr="Introduccion a Python. Clase 1">
            <a:extLst>
              <a:ext uri="{FF2B5EF4-FFF2-40B4-BE49-F238E27FC236}">
                <a16:creationId xmlns:a16="http://schemas.microsoft.com/office/drawing/2014/main" id="{99DBF5A9-83EF-8520-F331-9820A75966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696" y="361950"/>
            <a:ext cx="6076950" cy="456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05882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344EDF-3719-F9C6-98CE-D715348E6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81000" y="514350"/>
            <a:ext cx="4953000" cy="969771"/>
          </a:xfrm>
        </p:spPr>
        <p:txBody>
          <a:bodyPr/>
          <a:lstStyle/>
          <a:p>
            <a:r>
              <a:rPr lang="es-MX" dirty="0"/>
              <a:t>Operaciones básicas</a:t>
            </a:r>
            <a:endParaRPr lang="es-CL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A5F13216-B69C-244D-F27F-3EEC40E877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" y="1473814"/>
            <a:ext cx="5257802" cy="3669686"/>
          </a:xfrm>
        </p:spPr>
      </p:pic>
      <p:pic>
        <p:nvPicPr>
          <p:cNvPr id="4098" name="Picture 2" descr="Python: Aprendiendo desde cero VI – Operadores - Blog Virtualizacion">
            <a:extLst>
              <a:ext uri="{FF2B5EF4-FFF2-40B4-BE49-F238E27FC236}">
                <a16:creationId xmlns:a16="http://schemas.microsoft.com/office/drawing/2014/main" id="{FE09A693-4BEE-730A-DC5F-0D4CFBD07E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7801" y="1456624"/>
            <a:ext cx="3926627" cy="36696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75709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447B18-FE17-8801-D914-24D4690BF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01979"/>
            <a:ext cx="3086100" cy="1503171"/>
          </a:xfrm>
        </p:spPr>
        <p:txBody>
          <a:bodyPr>
            <a:normAutofit/>
          </a:bodyPr>
          <a:lstStyle/>
          <a:p>
            <a:r>
              <a:rPr lang="es-MX" b="1" dirty="0"/>
              <a:t>Asignación</a:t>
            </a:r>
            <a:br>
              <a:rPr lang="es-MX" b="1" dirty="0"/>
            </a:br>
            <a:r>
              <a:rPr lang="es-MX" b="1" dirty="0"/>
              <a:t>y operadores lógicos</a:t>
            </a:r>
            <a:endParaRPr lang="es-CL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2FB968A-2D86-C98F-DE7A-22B2EE5782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6600" y="1809750"/>
            <a:ext cx="5867400" cy="333375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742F6771-A08D-73E3-B8AA-7C07885401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6600" y="1"/>
            <a:ext cx="5867400" cy="180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6746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61524" y="83360"/>
            <a:ext cx="281622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Python</a:t>
            </a: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384725" y="912572"/>
            <a:ext cx="3318510" cy="32124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5" dirty="0">
                <a:latin typeface="Arial"/>
                <a:cs typeface="Arial"/>
              </a:rPr>
              <a:t>Operadores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650">
              <a:latin typeface="Arial"/>
              <a:cs typeface="Arial"/>
            </a:endParaRPr>
          </a:p>
          <a:p>
            <a:pPr marL="469900" indent="-351790">
              <a:lnSpc>
                <a:spcPct val="100000"/>
              </a:lnSpc>
              <a:buChar char="●"/>
              <a:tabLst>
                <a:tab pos="469265" algn="l"/>
                <a:tab pos="469900" algn="l"/>
              </a:tabLst>
            </a:pPr>
            <a:r>
              <a:rPr sz="1600" spc="-5" dirty="0">
                <a:latin typeface="Arial MT"/>
                <a:cs typeface="Arial MT"/>
              </a:rPr>
              <a:t>Numéricos:</a:t>
            </a:r>
            <a:r>
              <a:rPr sz="1600" spc="-5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+,-,*,/,**,%,//</a:t>
            </a:r>
            <a:endParaRPr sz="1600">
              <a:latin typeface="Arial MT"/>
              <a:cs typeface="Arial MT"/>
            </a:endParaRPr>
          </a:p>
          <a:p>
            <a:pPr marL="469900" indent="-351790">
              <a:lnSpc>
                <a:spcPct val="100000"/>
              </a:lnSpc>
              <a:spcBef>
                <a:spcPts val="1305"/>
              </a:spcBef>
              <a:buChar char="●"/>
              <a:tabLst>
                <a:tab pos="469265" algn="l"/>
                <a:tab pos="469900" algn="l"/>
              </a:tabLst>
            </a:pPr>
            <a:r>
              <a:rPr sz="1600" spc="-5" dirty="0">
                <a:latin typeface="Arial MT"/>
                <a:cs typeface="Arial MT"/>
              </a:rPr>
              <a:t>Asignación: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=,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+=,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-=,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*=,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/=</a:t>
            </a:r>
            <a:endParaRPr sz="1600">
              <a:latin typeface="Arial MT"/>
              <a:cs typeface="Arial MT"/>
            </a:endParaRPr>
          </a:p>
          <a:p>
            <a:pPr marL="469900" indent="-351790">
              <a:lnSpc>
                <a:spcPct val="100000"/>
              </a:lnSpc>
              <a:spcBef>
                <a:spcPts val="1305"/>
              </a:spcBef>
              <a:buChar char="●"/>
              <a:tabLst>
                <a:tab pos="469265" algn="l"/>
                <a:tab pos="469900" algn="l"/>
              </a:tabLst>
            </a:pPr>
            <a:r>
              <a:rPr sz="1600" spc="-5" dirty="0">
                <a:latin typeface="Arial MT"/>
                <a:cs typeface="Arial MT"/>
              </a:rPr>
              <a:t>Comparación: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==,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!=,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&lt;,&gt;,&lt;=,&gt;=</a:t>
            </a:r>
            <a:endParaRPr sz="1600">
              <a:latin typeface="Arial MT"/>
              <a:cs typeface="Arial MT"/>
            </a:endParaRPr>
          </a:p>
          <a:p>
            <a:pPr marL="469900" indent="-351790">
              <a:lnSpc>
                <a:spcPct val="100000"/>
              </a:lnSpc>
              <a:spcBef>
                <a:spcPts val="1305"/>
              </a:spcBef>
              <a:buChar char="●"/>
              <a:tabLst>
                <a:tab pos="469265" algn="l"/>
                <a:tab pos="469900" algn="l"/>
              </a:tabLst>
            </a:pPr>
            <a:r>
              <a:rPr sz="1600" dirty="0">
                <a:latin typeface="Arial MT"/>
                <a:cs typeface="Arial MT"/>
              </a:rPr>
              <a:t>A</a:t>
            </a:r>
            <a:r>
              <a:rPr sz="1600" spc="-10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nivel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de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bits: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&amp;,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|,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^,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~,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&gt;&gt;,&lt;&lt;</a:t>
            </a:r>
            <a:endParaRPr sz="1600">
              <a:latin typeface="Arial MT"/>
              <a:cs typeface="Arial MT"/>
            </a:endParaRPr>
          </a:p>
          <a:p>
            <a:pPr marL="469900" indent="-351790">
              <a:lnSpc>
                <a:spcPct val="100000"/>
              </a:lnSpc>
              <a:spcBef>
                <a:spcPts val="1305"/>
              </a:spcBef>
              <a:buChar char="●"/>
              <a:tabLst>
                <a:tab pos="469265" algn="l"/>
                <a:tab pos="469900" algn="l"/>
              </a:tabLst>
            </a:pPr>
            <a:r>
              <a:rPr sz="1600" spc="-5" dirty="0">
                <a:latin typeface="Arial MT"/>
                <a:cs typeface="Arial MT"/>
              </a:rPr>
              <a:t>Lógicos: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1B4587"/>
                </a:solidFill>
                <a:latin typeface="Arial MT"/>
                <a:cs typeface="Arial MT"/>
              </a:rPr>
              <a:t>and</a:t>
            </a:r>
            <a:r>
              <a:rPr sz="1600" spc="-5" dirty="0">
                <a:latin typeface="Arial MT"/>
                <a:cs typeface="Arial MT"/>
              </a:rPr>
              <a:t>,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1B4587"/>
                </a:solidFill>
                <a:latin typeface="Arial MT"/>
                <a:cs typeface="Arial MT"/>
              </a:rPr>
              <a:t>or</a:t>
            </a:r>
            <a:r>
              <a:rPr sz="1600" spc="-5" dirty="0">
                <a:latin typeface="Arial MT"/>
                <a:cs typeface="Arial MT"/>
              </a:rPr>
              <a:t>,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063763"/>
                </a:solidFill>
                <a:latin typeface="Arial MT"/>
                <a:cs typeface="Arial MT"/>
              </a:rPr>
              <a:t>not</a:t>
            </a:r>
            <a:endParaRPr sz="1600">
              <a:latin typeface="Arial MT"/>
              <a:cs typeface="Arial MT"/>
            </a:endParaRPr>
          </a:p>
          <a:p>
            <a:pPr marL="469900" indent="-351790">
              <a:lnSpc>
                <a:spcPct val="100000"/>
              </a:lnSpc>
              <a:spcBef>
                <a:spcPts val="1305"/>
              </a:spcBef>
              <a:buChar char="●"/>
              <a:tabLst>
                <a:tab pos="469265" algn="l"/>
                <a:tab pos="469900" algn="l"/>
              </a:tabLst>
            </a:pPr>
            <a:r>
              <a:rPr sz="1600" dirty="0">
                <a:latin typeface="Arial MT"/>
                <a:cs typeface="Arial MT"/>
              </a:rPr>
              <a:t>Membrecía: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1B4587"/>
                </a:solidFill>
                <a:latin typeface="Arial MT"/>
                <a:cs typeface="Arial MT"/>
              </a:rPr>
              <a:t>in</a:t>
            </a:r>
            <a:r>
              <a:rPr sz="1600" spc="-5" dirty="0">
                <a:latin typeface="Arial MT"/>
                <a:cs typeface="Arial MT"/>
              </a:rPr>
              <a:t>,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063763"/>
                </a:solidFill>
                <a:latin typeface="Arial MT"/>
                <a:cs typeface="Arial MT"/>
              </a:rPr>
              <a:t>not</a:t>
            </a:r>
            <a:r>
              <a:rPr sz="1600" spc="-25" dirty="0">
                <a:solidFill>
                  <a:srgbClr val="063763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063763"/>
                </a:solidFill>
                <a:latin typeface="Arial MT"/>
                <a:cs typeface="Arial MT"/>
              </a:rPr>
              <a:t>in</a:t>
            </a:r>
            <a:endParaRPr sz="1600">
              <a:latin typeface="Arial MT"/>
              <a:cs typeface="Arial MT"/>
            </a:endParaRPr>
          </a:p>
          <a:p>
            <a:pPr marL="469900" indent="-351790">
              <a:lnSpc>
                <a:spcPct val="100000"/>
              </a:lnSpc>
              <a:spcBef>
                <a:spcPts val="1305"/>
              </a:spcBef>
              <a:buChar char="●"/>
              <a:tabLst>
                <a:tab pos="469265" algn="l"/>
                <a:tab pos="469900" algn="l"/>
              </a:tabLst>
            </a:pPr>
            <a:r>
              <a:rPr sz="1600" spc="-5" dirty="0">
                <a:latin typeface="Arial MT"/>
                <a:cs typeface="Arial MT"/>
              </a:rPr>
              <a:t>Identidad:</a:t>
            </a:r>
            <a:r>
              <a:rPr sz="1600" dirty="0"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1B4587"/>
                </a:solidFill>
                <a:latin typeface="Arial MT"/>
                <a:cs typeface="Arial MT"/>
              </a:rPr>
              <a:t>is</a:t>
            </a:r>
            <a:r>
              <a:rPr sz="1600" spc="-5" dirty="0">
                <a:latin typeface="Arial MT"/>
                <a:cs typeface="Arial MT"/>
              </a:rPr>
              <a:t>,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063763"/>
                </a:solidFill>
                <a:latin typeface="Arial MT"/>
                <a:cs typeface="Arial MT"/>
              </a:rPr>
              <a:t>is</a:t>
            </a:r>
            <a:r>
              <a:rPr sz="1600" spc="-25" dirty="0">
                <a:solidFill>
                  <a:srgbClr val="063763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063763"/>
                </a:solidFill>
                <a:latin typeface="Arial MT"/>
                <a:cs typeface="Arial MT"/>
              </a:rPr>
              <a:t>not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665648" y="4832427"/>
            <a:ext cx="2092325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-5" dirty="0">
                <a:latin typeface="Arial MT"/>
                <a:cs typeface="Arial MT"/>
              </a:rPr>
              <a:t>Fuente:</a:t>
            </a:r>
            <a:r>
              <a:rPr sz="600" spc="55" dirty="0">
                <a:latin typeface="Arial MT"/>
                <a:cs typeface="Arial MT"/>
              </a:rPr>
              <a:t> </a:t>
            </a:r>
            <a:r>
              <a:rPr sz="600" spc="-10" dirty="0">
                <a:latin typeface="Arial MT"/>
                <a:cs typeface="Arial MT"/>
              </a:rPr>
              <a:t>https://minnie.tuhs.org/CompArch/Tutes/week02.html</a:t>
            </a:r>
            <a:endParaRPr sz="6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38698" y="1029674"/>
            <a:ext cx="1848663" cy="354119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80569" y="819150"/>
            <a:ext cx="3691749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Python</a:t>
            </a:r>
            <a:r>
              <a:rPr spc="-90" dirty="0"/>
              <a:t> </a:t>
            </a:r>
            <a:r>
              <a:rPr dirty="0"/>
              <a:t>científico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95600" y="1905200"/>
            <a:ext cx="3505200" cy="24391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5" dirty="0">
                <a:latin typeface="Arial"/>
                <a:cs typeface="Arial"/>
              </a:rPr>
              <a:t>Estructuras</a:t>
            </a:r>
            <a:r>
              <a:rPr sz="1600" b="1" spc="-25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de</a:t>
            </a:r>
            <a:r>
              <a:rPr sz="1600" b="1" spc="-20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control</a:t>
            </a:r>
            <a:r>
              <a:rPr sz="1600" b="1" spc="-20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de</a:t>
            </a:r>
            <a:r>
              <a:rPr sz="1600" b="1" spc="-2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flujo</a:t>
            </a:r>
            <a:endParaRPr sz="16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650" dirty="0">
              <a:latin typeface="Arial"/>
              <a:cs typeface="Arial"/>
            </a:endParaRPr>
          </a:p>
          <a:p>
            <a:pPr marL="469900" indent="-351790">
              <a:lnSpc>
                <a:spcPct val="100000"/>
              </a:lnSpc>
              <a:buChar char="●"/>
              <a:tabLst>
                <a:tab pos="469265" algn="l"/>
                <a:tab pos="469900" algn="l"/>
              </a:tabLst>
            </a:pPr>
            <a:r>
              <a:rPr sz="1600" spc="-5" dirty="0">
                <a:latin typeface="Arial MT"/>
                <a:cs typeface="Arial MT"/>
              </a:rPr>
              <a:t>Condicionales:</a:t>
            </a:r>
            <a:endParaRPr sz="1600" dirty="0">
              <a:latin typeface="Arial MT"/>
              <a:cs typeface="Arial MT"/>
            </a:endParaRPr>
          </a:p>
          <a:p>
            <a:pPr marL="927100" lvl="1" indent="-351790">
              <a:lnSpc>
                <a:spcPct val="100000"/>
              </a:lnSpc>
              <a:spcBef>
                <a:spcPts val="254"/>
              </a:spcBef>
              <a:buClr>
                <a:srgbClr val="000000"/>
              </a:buClr>
              <a:buChar char="○"/>
              <a:tabLst>
                <a:tab pos="926465" algn="l"/>
                <a:tab pos="927100" algn="l"/>
              </a:tabLst>
            </a:pPr>
            <a:r>
              <a:rPr sz="1600" spc="-5" dirty="0">
                <a:solidFill>
                  <a:schemeClr val="accent3"/>
                </a:solidFill>
                <a:latin typeface="Arial MT"/>
                <a:cs typeface="Arial MT"/>
              </a:rPr>
              <a:t>if,</a:t>
            </a:r>
            <a:r>
              <a:rPr sz="1600" spc="-30" dirty="0">
                <a:solidFill>
                  <a:schemeClr val="accent3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chemeClr val="accent3"/>
                </a:solidFill>
                <a:latin typeface="Arial MT"/>
                <a:cs typeface="Arial MT"/>
              </a:rPr>
              <a:t>elif,</a:t>
            </a:r>
            <a:r>
              <a:rPr sz="1600" spc="-30" dirty="0">
                <a:solidFill>
                  <a:schemeClr val="accent3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chemeClr val="accent3"/>
                </a:solidFill>
                <a:latin typeface="Arial MT"/>
                <a:cs typeface="Arial MT"/>
              </a:rPr>
              <a:t>else</a:t>
            </a:r>
            <a:endParaRPr sz="1600" dirty="0">
              <a:solidFill>
                <a:schemeClr val="accent3"/>
              </a:solidFill>
              <a:latin typeface="Arial MT"/>
              <a:cs typeface="Arial MT"/>
            </a:endParaRPr>
          </a:p>
          <a:p>
            <a:pPr marL="469900" indent="-351790">
              <a:lnSpc>
                <a:spcPct val="100000"/>
              </a:lnSpc>
              <a:spcBef>
                <a:spcPts val="1305"/>
              </a:spcBef>
              <a:buChar char="●"/>
              <a:tabLst>
                <a:tab pos="469265" algn="l"/>
                <a:tab pos="469900" algn="l"/>
              </a:tabLst>
            </a:pPr>
            <a:r>
              <a:rPr sz="1600" spc="-5" dirty="0">
                <a:latin typeface="Arial MT"/>
                <a:cs typeface="Arial MT"/>
              </a:rPr>
              <a:t>Ciclos:</a:t>
            </a:r>
            <a:endParaRPr sz="1600" dirty="0">
              <a:latin typeface="Arial MT"/>
              <a:cs typeface="Arial MT"/>
            </a:endParaRPr>
          </a:p>
          <a:p>
            <a:pPr marL="927100" lvl="1" indent="-351790">
              <a:lnSpc>
                <a:spcPct val="100000"/>
              </a:lnSpc>
              <a:spcBef>
                <a:spcPts val="254"/>
              </a:spcBef>
              <a:buClr>
                <a:srgbClr val="000000"/>
              </a:buClr>
              <a:buChar char="○"/>
              <a:tabLst>
                <a:tab pos="926465" algn="l"/>
                <a:tab pos="927100" algn="l"/>
              </a:tabLst>
            </a:pPr>
            <a:r>
              <a:rPr sz="1600" spc="-5" dirty="0">
                <a:solidFill>
                  <a:schemeClr val="accent3"/>
                </a:solidFill>
                <a:latin typeface="Arial MT"/>
                <a:cs typeface="Arial MT"/>
              </a:rPr>
              <a:t>for,</a:t>
            </a:r>
            <a:r>
              <a:rPr sz="1600" spc="-30" dirty="0">
                <a:solidFill>
                  <a:schemeClr val="accent3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chemeClr val="accent3"/>
                </a:solidFill>
                <a:latin typeface="Arial MT"/>
                <a:cs typeface="Arial MT"/>
              </a:rPr>
              <a:t>while,</a:t>
            </a:r>
            <a:r>
              <a:rPr sz="1600" spc="-25" dirty="0">
                <a:solidFill>
                  <a:schemeClr val="accent3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chemeClr val="accent3"/>
                </a:solidFill>
                <a:latin typeface="Arial MT"/>
                <a:cs typeface="Arial MT"/>
              </a:rPr>
              <a:t>break,</a:t>
            </a:r>
            <a:r>
              <a:rPr sz="1600" spc="-25" dirty="0">
                <a:solidFill>
                  <a:schemeClr val="accent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chemeClr val="accent3"/>
                </a:solidFill>
                <a:latin typeface="Arial MT"/>
                <a:cs typeface="Arial MT"/>
              </a:rPr>
              <a:t>continue</a:t>
            </a:r>
          </a:p>
          <a:p>
            <a:pPr marL="469900" indent="-351790">
              <a:lnSpc>
                <a:spcPct val="100000"/>
              </a:lnSpc>
              <a:spcBef>
                <a:spcPts val="1305"/>
              </a:spcBef>
              <a:buChar char="●"/>
              <a:tabLst>
                <a:tab pos="469265" algn="l"/>
                <a:tab pos="469900" algn="l"/>
              </a:tabLst>
            </a:pPr>
            <a:r>
              <a:rPr sz="1600" spc="-5" dirty="0">
                <a:latin typeface="Arial MT"/>
                <a:cs typeface="Arial MT"/>
              </a:rPr>
              <a:t>Funciones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de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python:</a:t>
            </a:r>
            <a:endParaRPr sz="1600" dirty="0">
              <a:latin typeface="Arial MT"/>
              <a:cs typeface="Arial MT"/>
            </a:endParaRPr>
          </a:p>
          <a:p>
            <a:pPr marL="927100" lvl="1" indent="-351790">
              <a:lnSpc>
                <a:spcPct val="100000"/>
              </a:lnSpc>
              <a:spcBef>
                <a:spcPts val="254"/>
              </a:spcBef>
              <a:buClr>
                <a:srgbClr val="000000"/>
              </a:buClr>
              <a:buChar char="○"/>
              <a:tabLst>
                <a:tab pos="926465" algn="l"/>
                <a:tab pos="927100" algn="l"/>
              </a:tabLst>
            </a:pPr>
            <a:r>
              <a:rPr sz="1600" spc="-5" dirty="0">
                <a:solidFill>
                  <a:schemeClr val="accent3"/>
                </a:solidFill>
                <a:latin typeface="Arial MT"/>
                <a:cs typeface="Arial MT"/>
              </a:rPr>
              <a:t>zip,</a:t>
            </a:r>
            <a:r>
              <a:rPr sz="1600" spc="-25" dirty="0">
                <a:solidFill>
                  <a:schemeClr val="accent3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chemeClr val="accent3"/>
                </a:solidFill>
                <a:latin typeface="Arial MT"/>
                <a:cs typeface="Arial MT"/>
              </a:rPr>
              <a:t>range,</a:t>
            </a:r>
            <a:r>
              <a:rPr sz="1600" spc="-25" dirty="0">
                <a:solidFill>
                  <a:schemeClr val="accent3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chemeClr val="accent3"/>
                </a:solidFill>
                <a:latin typeface="Arial MT"/>
                <a:cs typeface="Arial MT"/>
              </a:rPr>
              <a:t>enumerate</a:t>
            </a:r>
            <a:endParaRPr sz="1600" dirty="0">
              <a:solidFill>
                <a:schemeClr val="accent3"/>
              </a:solidFill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7E982A-C56B-2D67-4D37-4261823B61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8400" y="262818"/>
            <a:ext cx="6457950" cy="969771"/>
          </a:xfrm>
        </p:spPr>
        <p:txBody>
          <a:bodyPr/>
          <a:lstStyle/>
          <a:p>
            <a:r>
              <a:rPr lang="es-MX" dirty="0"/>
              <a:t>Estructuras de control</a:t>
            </a:r>
            <a:endParaRPr lang="es-CL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A85BF9BD-AD9F-E4AC-21D4-32981E62C0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r="75352"/>
          <a:stretch/>
        </p:blipFill>
        <p:spPr>
          <a:xfrm>
            <a:off x="533400" y="1645927"/>
            <a:ext cx="2000250" cy="1919108"/>
          </a:xfr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6954D74A-34FF-03B6-C18C-5A1D196F2B6E}"/>
              </a:ext>
            </a:extLst>
          </p:cNvPr>
          <p:cNvSpPr txBox="1"/>
          <p:nvPr/>
        </p:nvSpPr>
        <p:spPr>
          <a:xfrm>
            <a:off x="571500" y="1241197"/>
            <a:ext cx="175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err="1"/>
              <a:t>If</a:t>
            </a:r>
            <a:r>
              <a:rPr lang="es-MX" dirty="0"/>
              <a:t>, </a:t>
            </a:r>
            <a:r>
              <a:rPr lang="es-MX" dirty="0" err="1"/>
              <a:t>Elif</a:t>
            </a:r>
            <a:r>
              <a:rPr lang="es-MX" dirty="0"/>
              <a:t> y </a:t>
            </a:r>
            <a:r>
              <a:rPr lang="es-MX" dirty="0" err="1"/>
              <a:t>Else</a:t>
            </a:r>
            <a:endParaRPr lang="es-CL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F47D1969-1D0B-4D35-E90E-59CFE1E9E7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4200" y="1704421"/>
            <a:ext cx="2000251" cy="1734658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14CBB171-2719-A835-33D7-7554C25DF678}"/>
              </a:ext>
            </a:extLst>
          </p:cNvPr>
          <p:cNvSpPr txBox="1"/>
          <p:nvPr/>
        </p:nvSpPr>
        <p:spPr>
          <a:xfrm>
            <a:off x="3159512" y="1254671"/>
            <a:ext cx="175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err="1"/>
              <a:t>for</a:t>
            </a:r>
            <a:endParaRPr lang="es-CL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8D5337EB-E51B-ADFE-8028-48EE8C6D74A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36974"/>
          <a:stretch/>
        </p:blipFill>
        <p:spPr>
          <a:xfrm>
            <a:off x="3124200" y="3439079"/>
            <a:ext cx="2000250" cy="1704421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B594C32F-9FA5-D9D3-78B3-B56A88EA91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67400" y="1704421"/>
            <a:ext cx="2419688" cy="685896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A2ECB355-0583-D78D-1A8C-2826AC7D15EB}"/>
              </a:ext>
            </a:extLst>
          </p:cNvPr>
          <p:cNvSpPr txBox="1"/>
          <p:nvPr/>
        </p:nvSpPr>
        <p:spPr>
          <a:xfrm>
            <a:off x="5943600" y="1266137"/>
            <a:ext cx="175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err="1"/>
              <a:t>range</a:t>
            </a:r>
            <a:endParaRPr lang="es-CL" dirty="0"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EC72B091-4F42-0E44-F875-3F089677DB5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46956" y="2571750"/>
            <a:ext cx="2667372" cy="704948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99F38EE8-CF15-2B0A-6DF3-7B6FA4C171A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46956" y="3643499"/>
            <a:ext cx="3219899" cy="647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27756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6610C1-192B-B4F5-FE16-8C2A95F18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Estructuras de control</a:t>
            </a:r>
            <a:endParaRPr lang="es-CL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FAB448C6-C440-DE64-3BBD-7034440339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5800" y="2952750"/>
            <a:ext cx="2572109" cy="1419423"/>
          </a:xfr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564BC9C3-20BF-682A-159F-8FF5D0FB45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5200" y="3167001"/>
            <a:ext cx="2610214" cy="866896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DFD345F4-D3A5-C237-DE43-104E3011E10D}"/>
              </a:ext>
            </a:extLst>
          </p:cNvPr>
          <p:cNvSpPr txBox="1"/>
          <p:nvPr/>
        </p:nvSpPr>
        <p:spPr>
          <a:xfrm>
            <a:off x="685800" y="2114550"/>
            <a:ext cx="1905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err="1"/>
              <a:t>While</a:t>
            </a:r>
            <a:endParaRPr lang="es-CL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D1D63FE9-ACCF-ACFF-F616-BC47F241E5A8}"/>
              </a:ext>
            </a:extLst>
          </p:cNvPr>
          <p:cNvSpPr txBox="1"/>
          <p:nvPr/>
        </p:nvSpPr>
        <p:spPr>
          <a:xfrm>
            <a:off x="3429000" y="2084813"/>
            <a:ext cx="1905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err="1"/>
              <a:t>While</a:t>
            </a:r>
            <a:r>
              <a:rPr lang="es-MX" dirty="0"/>
              <a:t> true</a:t>
            </a:r>
            <a:endParaRPr lang="es-CL" dirty="0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20A16799-2830-CCDF-5075-CBB160702E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2705" y="2550638"/>
            <a:ext cx="2314898" cy="2019582"/>
          </a:xfrm>
          <a:prstGeom prst="rect">
            <a:avLst/>
          </a:prstGeom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2B3BD073-0BF9-EFA8-99AC-24DD3213109C}"/>
              </a:ext>
            </a:extLst>
          </p:cNvPr>
          <p:cNvSpPr txBox="1"/>
          <p:nvPr/>
        </p:nvSpPr>
        <p:spPr>
          <a:xfrm>
            <a:off x="6477000" y="2063961"/>
            <a:ext cx="1905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err="1"/>
              <a:t>While</a:t>
            </a:r>
            <a:r>
              <a:rPr lang="es-MX" dirty="0"/>
              <a:t> Anidado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1653456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400" y="306365"/>
            <a:ext cx="8839200" cy="47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Herramientas</a:t>
            </a:r>
            <a:r>
              <a:rPr spc="-35" dirty="0"/>
              <a:t> </a:t>
            </a:r>
            <a:r>
              <a:rPr spc="-5" dirty="0"/>
              <a:t>de</a:t>
            </a:r>
            <a:r>
              <a:rPr spc="-30" dirty="0"/>
              <a:t> </a:t>
            </a:r>
            <a:r>
              <a:rPr spc="-5" dirty="0"/>
              <a:t>programación</a:t>
            </a:r>
            <a:r>
              <a:rPr spc="-30" dirty="0"/>
              <a:t> </a:t>
            </a:r>
            <a:r>
              <a:rPr dirty="0"/>
              <a:t>científica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7200" y="2495550"/>
            <a:ext cx="2438400" cy="77713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3855" indent="-351790">
              <a:lnSpc>
                <a:spcPct val="100000"/>
              </a:lnSpc>
              <a:spcBef>
                <a:spcPts val="100"/>
              </a:spcBef>
              <a:buFont typeface="Arial MT"/>
              <a:buChar char="●"/>
              <a:tabLst>
                <a:tab pos="363855" algn="l"/>
                <a:tab pos="364490" algn="l"/>
              </a:tabLst>
            </a:pPr>
            <a:r>
              <a:rPr sz="1600" b="1" spc="-5" dirty="0">
                <a:latin typeface="Arial"/>
                <a:cs typeface="Arial"/>
              </a:rPr>
              <a:t>Diagrama</a:t>
            </a:r>
            <a:r>
              <a:rPr sz="1600" b="1" spc="-45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de</a:t>
            </a:r>
            <a:r>
              <a:rPr sz="1600" b="1" spc="-45" dirty="0">
                <a:latin typeface="Arial"/>
                <a:cs typeface="Arial"/>
              </a:rPr>
              <a:t> </a:t>
            </a:r>
            <a:r>
              <a:rPr sz="1600" b="1" dirty="0" err="1">
                <a:latin typeface="Arial"/>
                <a:cs typeface="Arial"/>
              </a:rPr>
              <a:t>fluj</a:t>
            </a:r>
            <a:r>
              <a:rPr lang="es-MX" sz="1600" b="1" dirty="0">
                <a:latin typeface="Arial"/>
                <a:cs typeface="Arial"/>
              </a:rPr>
              <a:t>o:</a:t>
            </a:r>
          </a:p>
          <a:p>
            <a:pPr marL="363855" indent="-351790">
              <a:lnSpc>
                <a:spcPct val="100000"/>
              </a:lnSpc>
              <a:spcBef>
                <a:spcPts val="100"/>
              </a:spcBef>
              <a:buFont typeface="Arial MT"/>
              <a:buChar char="●"/>
              <a:tabLst>
                <a:tab pos="363855" algn="l"/>
                <a:tab pos="364490" algn="l"/>
              </a:tabLst>
            </a:pPr>
            <a:endParaRPr lang="es-CL" sz="1600" b="1" dirty="0">
              <a:latin typeface="Arial"/>
              <a:cs typeface="Arial"/>
            </a:endParaRPr>
          </a:p>
          <a:p>
            <a:pPr marL="469265" lvl="1">
              <a:spcBef>
                <a:spcPts val="100"/>
              </a:spcBef>
              <a:tabLst>
                <a:tab pos="363855" algn="l"/>
                <a:tab pos="364490" algn="l"/>
              </a:tabLst>
            </a:pPr>
            <a:r>
              <a:rPr lang="es-CL" sz="1600" b="1" dirty="0">
                <a:latin typeface="Arial"/>
                <a:cs typeface="Arial"/>
              </a:rPr>
              <a:t>Elementos básicos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14897" y="4837135"/>
            <a:ext cx="5686103" cy="135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-5" dirty="0">
                <a:latin typeface="Arial MT"/>
                <a:cs typeface="Arial MT"/>
              </a:rPr>
              <a:t>Fuente</a:t>
            </a:r>
            <a:r>
              <a:rPr lang="es-MX" sz="600" spc="-5" dirty="0">
                <a:latin typeface="Arial MT"/>
                <a:cs typeface="Arial MT"/>
              </a:rPr>
              <a:t>: </a:t>
            </a:r>
            <a:r>
              <a:rPr lang="es-MX" sz="800" dirty="0" err="1">
                <a:hlinkClick r:id="rId2"/>
              </a:rPr>
              <a:t>Programacion</a:t>
            </a:r>
            <a:r>
              <a:rPr lang="es-MX" sz="800" dirty="0">
                <a:hlinkClick r:id="rId2"/>
              </a:rPr>
              <a:t> y algo mas ...: UNIDAD 1. DIAGRAMA DE FLUJO. (unefavlppetroleo.blogspot.com)</a:t>
            </a:r>
            <a:endParaRPr sz="600" dirty="0">
              <a:latin typeface="Arial MT"/>
              <a:cs typeface="Arial MT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C1FDDBD-7204-67C8-5506-0D11C7BBA3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0" y="867925"/>
            <a:ext cx="5530929" cy="37748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84725" y="912572"/>
            <a:ext cx="4808855" cy="22123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indent="-351790">
              <a:lnSpc>
                <a:spcPct val="100000"/>
              </a:lnSpc>
              <a:spcBef>
                <a:spcPts val="100"/>
              </a:spcBef>
              <a:buFont typeface="Arial MT"/>
              <a:buChar char="●"/>
              <a:tabLst>
                <a:tab pos="469265" algn="l"/>
                <a:tab pos="469900" algn="l"/>
              </a:tabLst>
            </a:pPr>
            <a:r>
              <a:rPr sz="1600" b="1" spc="-5" dirty="0">
                <a:latin typeface="Arial"/>
                <a:cs typeface="Arial"/>
              </a:rPr>
              <a:t>Diagramas</a:t>
            </a:r>
            <a:r>
              <a:rPr sz="1600" b="1" spc="-30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de</a:t>
            </a:r>
            <a:r>
              <a:rPr sz="1600" b="1" spc="-2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flujo</a:t>
            </a:r>
            <a:r>
              <a:rPr sz="1600" b="1" spc="-2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(ejercicios)</a:t>
            </a:r>
            <a:endParaRPr sz="16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650" dirty="0">
              <a:latin typeface="Arial"/>
              <a:cs typeface="Arial"/>
            </a:endParaRPr>
          </a:p>
          <a:p>
            <a:pPr marL="181610" indent="-169545">
              <a:lnSpc>
                <a:spcPct val="100000"/>
              </a:lnSpc>
              <a:buAutoNum type="romanLcParenR"/>
              <a:tabLst>
                <a:tab pos="182245" algn="l"/>
              </a:tabLst>
            </a:pPr>
            <a:r>
              <a:rPr sz="1600" spc="-5" dirty="0">
                <a:latin typeface="Arial MT"/>
                <a:cs typeface="Arial MT"/>
              </a:rPr>
              <a:t>Imprimir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“hola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mundo”</a:t>
            </a:r>
          </a:p>
          <a:p>
            <a:pPr>
              <a:lnSpc>
                <a:spcPct val="100000"/>
              </a:lnSpc>
              <a:spcBef>
                <a:spcPts val="10"/>
              </a:spcBef>
              <a:buFont typeface="Arial MT"/>
              <a:buAutoNum type="romanLcParenR"/>
            </a:pPr>
            <a:endParaRPr sz="1650" dirty="0">
              <a:latin typeface="Arial MT"/>
              <a:cs typeface="Arial MT"/>
            </a:endParaRPr>
          </a:p>
          <a:p>
            <a:pPr marL="226695" indent="-214629">
              <a:lnSpc>
                <a:spcPct val="100000"/>
              </a:lnSpc>
              <a:buAutoNum type="romanLcParenR"/>
              <a:tabLst>
                <a:tab pos="227329" algn="l"/>
              </a:tabLst>
            </a:pPr>
            <a:r>
              <a:rPr sz="1600" spc="-5" dirty="0">
                <a:latin typeface="Arial MT"/>
                <a:cs typeface="Arial MT"/>
              </a:rPr>
              <a:t>Calcular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el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área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de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un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círculo.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Considerar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π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=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3.14</a:t>
            </a:r>
            <a:endParaRPr sz="16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 MT"/>
              <a:buAutoNum type="romanLcParenR"/>
            </a:pPr>
            <a:endParaRPr sz="1650" dirty="0">
              <a:latin typeface="Arial MT"/>
              <a:cs typeface="Arial MT"/>
            </a:endParaRPr>
          </a:p>
          <a:p>
            <a:pPr marL="271780" indent="-259715">
              <a:lnSpc>
                <a:spcPct val="100000"/>
              </a:lnSpc>
              <a:buAutoNum type="romanLcParenR"/>
              <a:tabLst>
                <a:tab pos="272415" algn="l"/>
              </a:tabLst>
            </a:pPr>
            <a:r>
              <a:rPr sz="1600" spc="-5" dirty="0">
                <a:latin typeface="Arial MT"/>
                <a:cs typeface="Arial MT"/>
              </a:rPr>
              <a:t>Obtener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el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mayor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entre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2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números</a:t>
            </a:r>
            <a:endParaRPr sz="16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Arial MT"/>
              <a:buAutoNum type="romanLcParenR"/>
            </a:pPr>
            <a:endParaRPr sz="1650" dirty="0">
              <a:latin typeface="Arial MT"/>
              <a:cs typeface="Arial MT"/>
            </a:endParaRPr>
          </a:p>
          <a:p>
            <a:pPr marL="282575" indent="-270510">
              <a:lnSpc>
                <a:spcPct val="100000"/>
              </a:lnSpc>
              <a:buAutoNum type="romanLcParenR"/>
              <a:tabLst>
                <a:tab pos="283210" algn="l"/>
              </a:tabLst>
            </a:pPr>
            <a:r>
              <a:rPr sz="1600" spc="-5" dirty="0">
                <a:latin typeface="Arial MT"/>
                <a:cs typeface="Arial MT"/>
              </a:rPr>
              <a:t>Imprimir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solo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si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el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número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es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mayor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que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cero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84725" y="3827222"/>
            <a:ext cx="592010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u="heavy" spc="-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Bonus</a:t>
            </a:r>
            <a:r>
              <a:rPr sz="1600" spc="-5" dirty="0">
                <a:latin typeface="Arial MT"/>
                <a:cs typeface="Arial MT"/>
              </a:rPr>
              <a:t>: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sumar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todos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los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números pares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de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un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vector</a:t>
            </a:r>
            <a:r>
              <a:rPr sz="1600" spc="-5" dirty="0">
                <a:latin typeface="Arial MT"/>
                <a:cs typeface="Arial MT"/>
              </a:rPr>
              <a:t> de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tamaño</a:t>
            </a:r>
            <a:r>
              <a:rPr sz="1600" spc="35" dirty="0">
                <a:latin typeface="Arial MT"/>
                <a:cs typeface="Arial MT"/>
              </a:rPr>
              <a:t> </a:t>
            </a:r>
            <a:r>
              <a:rPr sz="1600" i="1" dirty="0">
                <a:latin typeface="Arial"/>
                <a:cs typeface="Arial"/>
              </a:rPr>
              <a:t>n</a:t>
            </a:r>
            <a:endParaRPr sz="1600">
              <a:latin typeface="Arial"/>
              <a:cs typeface="Arial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96A21F6E-8174-2EBD-708E-0A589614E7B7}"/>
              </a:ext>
            </a:extLst>
          </p:cNvPr>
          <p:cNvSpPr txBox="1"/>
          <p:nvPr/>
        </p:nvSpPr>
        <p:spPr>
          <a:xfrm>
            <a:off x="1371600" y="233958"/>
            <a:ext cx="68580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2500" spc="-5" dirty="0"/>
              <a:t>Herramientas</a:t>
            </a:r>
            <a:r>
              <a:rPr lang="es-CL" sz="2500" spc="-35" dirty="0"/>
              <a:t> </a:t>
            </a:r>
            <a:r>
              <a:rPr lang="es-CL" sz="2500" spc="-5" dirty="0"/>
              <a:t>de</a:t>
            </a:r>
            <a:r>
              <a:rPr lang="es-CL" sz="2500" spc="-30" dirty="0"/>
              <a:t> </a:t>
            </a:r>
            <a:r>
              <a:rPr lang="es-CL" sz="2500" spc="-5" dirty="0"/>
              <a:t>programación</a:t>
            </a:r>
            <a:r>
              <a:rPr lang="es-CL" sz="2500" spc="-30" dirty="0"/>
              <a:t> </a:t>
            </a:r>
            <a:r>
              <a:rPr lang="es-CL" sz="2500" dirty="0"/>
              <a:t>científica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00400" y="397912"/>
            <a:ext cx="4382276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Python</a:t>
            </a:r>
            <a:r>
              <a:rPr spc="-90" dirty="0"/>
              <a:t> </a:t>
            </a:r>
            <a:r>
              <a:rPr dirty="0"/>
              <a:t>científico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19061" y="1885950"/>
            <a:ext cx="4110990" cy="19837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1600" b="1" spc="-10" dirty="0">
                <a:latin typeface="Arial"/>
                <a:cs typeface="Arial"/>
              </a:rPr>
              <a:t>Tipos</a:t>
            </a:r>
            <a:r>
              <a:rPr sz="1600" b="1" spc="-35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de</a:t>
            </a:r>
            <a:r>
              <a:rPr sz="1600" b="1" spc="-35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datos</a:t>
            </a:r>
            <a:endParaRPr sz="16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650" dirty="0">
              <a:latin typeface="Arial"/>
              <a:cs typeface="Arial"/>
            </a:endParaRPr>
          </a:p>
          <a:p>
            <a:pPr marL="482600" indent="-351790">
              <a:lnSpc>
                <a:spcPct val="100000"/>
              </a:lnSpc>
              <a:buChar char="●"/>
              <a:tabLst>
                <a:tab pos="481965" algn="l"/>
                <a:tab pos="482600" algn="l"/>
              </a:tabLst>
            </a:pPr>
            <a:r>
              <a:rPr sz="1600" spc="-5" dirty="0">
                <a:latin typeface="Arial MT"/>
                <a:cs typeface="Arial MT"/>
              </a:rPr>
              <a:t>Números</a:t>
            </a:r>
            <a:r>
              <a:rPr sz="1575" spc="-7" baseline="31746" dirty="0">
                <a:latin typeface="Arial MT"/>
                <a:cs typeface="Arial MT"/>
              </a:rPr>
              <a:t>*</a:t>
            </a:r>
            <a:r>
              <a:rPr sz="1600" spc="-5" dirty="0">
                <a:latin typeface="Arial MT"/>
                <a:cs typeface="Arial MT"/>
              </a:rPr>
              <a:t>: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chemeClr val="accent3"/>
                </a:solidFill>
                <a:latin typeface="Arial MT"/>
                <a:cs typeface="Arial MT"/>
              </a:rPr>
              <a:t>int</a:t>
            </a:r>
            <a:r>
              <a:rPr sz="1600" spc="-5" dirty="0">
                <a:latin typeface="Arial MT"/>
                <a:cs typeface="Arial MT"/>
              </a:rPr>
              <a:t>,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chemeClr val="accent3"/>
                </a:solidFill>
                <a:latin typeface="Arial MT"/>
                <a:cs typeface="Arial MT"/>
              </a:rPr>
              <a:t>float</a:t>
            </a:r>
            <a:r>
              <a:rPr sz="1600" spc="-5" dirty="0">
                <a:latin typeface="Arial MT"/>
                <a:cs typeface="Arial MT"/>
              </a:rPr>
              <a:t>, </a:t>
            </a:r>
            <a:r>
              <a:rPr sz="1600" spc="-5" dirty="0">
                <a:solidFill>
                  <a:schemeClr val="accent3"/>
                </a:solidFill>
                <a:latin typeface="Arial MT"/>
                <a:cs typeface="Arial MT"/>
              </a:rPr>
              <a:t>long</a:t>
            </a:r>
            <a:r>
              <a:rPr sz="1600" spc="-5" dirty="0">
                <a:latin typeface="Arial MT"/>
                <a:cs typeface="Arial MT"/>
              </a:rPr>
              <a:t>,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chemeClr val="accent3"/>
                </a:solidFill>
                <a:latin typeface="Arial MT"/>
                <a:cs typeface="Arial MT"/>
              </a:rPr>
              <a:t>complex</a:t>
            </a:r>
            <a:r>
              <a:rPr sz="1600" spc="-5" dirty="0">
                <a:latin typeface="Arial MT"/>
                <a:cs typeface="Arial MT"/>
              </a:rPr>
              <a:t>, </a:t>
            </a:r>
            <a:r>
              <a:rPr sz="1600" spc="-5" dirty="0">
                <a:solidFill>
                  <a:schemeClr val="accent3"/>
                </a:solidFill>
                <a:latin typeface="Arial MT"/>
                <a:cs typeface="Arial MT"/>
              </a:rPr>
              <a:t>bool</a:t>
            </a:r>
            <a:endParaRPr sz="1600" dirty="0">
              <a:solidFill>
                <a:schemeClr val="accent3"/>
              </a:solidFill>
              <a:latin typeface="Arial MT"/>
              <a:cs typeface="Arial MT"/>
            </a:endParaRPr>
          </a:p>
          <a:p>
            <a:pPr marL="482600" indent="-351790">
              <a:lnSpc>
                <a:spcPct val="100000"/>
              </a:lnSpc>
              <a:spcBef>
                <a:spcPts val="1305"/>
              </a:spcBef>
              <a:buChar char="●"/>
              <a:tabLst>
                <a:tab pos="481965" algn="l"/>
                <a:tab pos="482600" algn="l"/>
              </a:tabLst>
            </a:pPr>
            <a:r>
              <a:rPr sz="1600" spc="-5" dirty="0">
                <a:latin typeface="Arial MT"/>
                <a:cs typeface="Arial MT"/>
              </a:rPr>
              <a:t>Secuencias:</a:t>
            </a:r>
            <a:r>
              <a:rPr sz="1600" spc="15" dirty="0"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chemeClr val="accent3"/>
                </a:solidFill>
                <a:latin typeface="Arial MT"/>
                <a:cs typeface="Arial MT"/>
              </a:rPr>
              <a:t>str</a:t>
            </a:r>
            <a:r>
              <a:rPr sz="1575" spc="-7" baseline="31746" dirty="0">
                <a:latin typeface="Arial MT"/>
                <a:cs typeface="Arial MT"/>
              </a:rPr>
              <a:t>*</a:t>
            </a:r>
            <a:r>
              <a:rPr sz="1600" spc="-5" dirty="0">
                <a:latin typeface="Arial MT"/>
                <a:cs typeface="Arial MT"/>
              </a:rPr>
              <a:t>,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chemeClr val="accent3"/>
                </a:solidFill>
                <a:latin typeface="Arial MT"/>
                <a:cs typeface="Arial MT"/>
              </a:rPr>
              <a:t>list</a:t>
            </a:r>
            <a:r>
              <a:rPr sz="1600" spc="-5" dirty="0">
                <a:latin typeface="Arial MT"/>
                <a:cs typeface="Arial MT"/>
              </a:rPr>
              <a:t>,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chemeClr val="accent3"/>
                </a:solidFill>
                <a:latin typeface="Arial MT"/>
                <a:cs typeface="Arial MT"/>
              </a:rPr>
              <a:t>tuple</a:t>
            </a:r>
            <a:r>
              <a:rPr sz="1575" spc="-7" baseline="31746" dirty="0">
                <a:latin typeface="Arial MT"/>
                <a:cs typeface="Arial MT"/>
              </a:rPr>
              <a:t>*</a:t>
            </a:r>
            <a:r>
              <a:rPr sz="1600" spc="-5" dirty="0">
                <a:latin typeface="Arial MT"/>
                <a:cs typeface="Arial MT"/>
              </a:rPr>
              <a:t>,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chemeClr val="accent3"/>
                </a:solidFill>
                <a:latin typeface="Arial MT"/>
                <a:cs typeface="Arial MT"/>
              </a:rPr>
              <a:t>dict</a:t>
            </a:r>
            <a:r>
              <a:rPr sz="1600" spc="-5" dirty="0">
                <a:latin typeface="Arial MT"/>
                <a:cs typeface="Arial MT"/>
              </a:rPr>
              <a:t>,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dirty="0">
                <a:solidFill>
                  <a:schemeClr val="accent3"/>
                </a:solidFill>
                <a:latin typeface="Arial MT"/>
                <a:cs typeface="Arial MT"/>
              </a:rPr>
              <a:t>set</a:t>
            </a:r>
            <a:r>
              <a:rPr sz="1575" baseline="31746" dirty="0">
                <a:latin typeface="Arial MT"/>
                <a:cs typeface="Arial MT"/>
              </a:rPr>
              <a:t>*</a:t>
            </a:r>
          </a:p>
          <a:p>
            <a:pPr marL="482600" indent="-351790">
              <a:lnSpc>
                <a:spcPct val="100000"/>
              </a:lnSpc>
              <a:spcBef>
                <a:spcPts val="1305"/>
              </a:spcBef>
              <a:buChar char="●"/>
              <a:tabLst>
                <a:tab pos="481965" algn="l"/>
                <a:tab pos="482600" algn="l"/>
              </a:tabLst>
            </a:pPr>
            <a:r>
              <a:rPr sz="1600" spc="-5" dirty="0">
                <a:latin typeface="Arial MT"/>
                <a:cs typeface="Arial MT"/>
              </a:rPr>
              <a:t>Funciones</a:t>
            </a:r>
            <a:endParaRPr sz="1600" dirty="0">
              <a:latin typeface="Arial MT"/>
              <a:cs typeface="Arial MT"/>
            </a:endParaRPr>
          </a:p>
          <a:p>
            <a:pPr marL="482600" indent="-351790">
              <a:lnSpc>
                <a:spcPct val="100000"/>
              </a:lnSpc>
              <a:spcBef>
                <a:spcPts val="1305"/>
              </a:spcBef>
              <a:buChar char="●"/>
              <a:tabLst>
                <a:tab pos="481965" algn="l"/>
                <a:tab pos="482600" algn="l"/>
              </a:tabLst>
            </a:pPr>
            <a:r>
              <a:rPr sz="1600" spc="-5" dirty="0">
                <a:latin typeface="Arial MT"/>
                <a:cs typeface="Arial MT"/>
              </a:rPr>
              <a:t>Clases</a:t>
            </a:r>
            <a:endParaRPr sz="1600" dirty="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059206" y="4496512"/>
            <a:ext cx="72517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050" spc="-7" baseline="31746" dirty="0">
                <a:latin typeface="Arial MT"/>
                <a:cs typeface="Arial MT"/>
              </a:rPr>
              <a:t>*</a:t>
            </a:r>
            <a:r>
              <a:rPr sz="1100" spc="-5" dirty="0">
                <a:latin typeface="Arial MT"/>
                <a:cs typeface="Arial MT"/>
              </a:rPr>
              <a:t>Inmutable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953000" y="2266950"/>
            <a:ext cx="3765550" cy="1125220"/>
            <a:chOff x="4567237" y="3009012"/>
            <a:chExt cx="3765550" cy="1125220"/>
          </a:xfrm>
        </p:grpSpPr>
        <p:sp>
          <p:nvSpPr>
            <p:cNvPr id="6" name="object 6"/>
            <p:cNvSpPr/>
            <p:nvPr/>
          </p:nvSpPr>
          <p:spPr>
            <a:xfrm>
              <a:off x="4572000" y="3013774"/>
              <a:ext cx="3756025" cy="1115695"/>
            </a:xfrm>
            <a:custGeom>
              <a:avLst/>
              <a:gdLst/>
              <a:ahLst/>
              <a:cxnLst/>
              <a:rect l="l" t="t" r="r" b="b"/>
              <a:pathLst>
                <a:path w="3756025" h="1115695">
                  <a:moveTo>
                    <a:pt x="3570145" y="1115099"/>
                  </a:moveTo>
                  <a:lnTo>
                    <a:pt x="185853" y="1115099"/>
                  </a:lnTo>
                  <a:lnTo>
                    <a:pt x="136446" y="1108461"/>
                  </a:lnTo>
                  <a:lnTo>
                    <a:pt x="92049" y="1089725"/>
                  </a:lnTo>
                  <a:lnTo>
                    <a:pt x="54435" y="1060664"/>
                  </a:lnTo>
                  <a:lnTo>
                    <a:pt x="25374" y="1023050"/>
                  </a:lnTo>
                  <a:lnTo>
                    <a:pt x="6638" y="978653"/>
                  </a:lnTo>
                  <a:lnTo>
                    <a:pt x="0" y="929245"/>
                  </a:lnTo>
                  <a:lnTo>
                    <a:pt x="0" y="185853"/>
                  </a:lnTo>
                  <a:lnTo>
                    <a:pt x="6638" y="136446"/>
                  </a:lnTo>
                  <a:lnTo>
                    <a:pt x="25374" y="92049"/>
                  </a:lnTo>
                  <a:lnTo>
                    <a:pt x="54435" y="54435"/>
                  </a:lnTo>
                  <a:lnTo>
                    <a:pt x="92049" y="25374"/>
                  </a:lnTo>
                  <a:lnTo>
                    <a:pt x="136446" y="6638"/>
                  </a:lnTo>
                  <a:lnTo>
                    <a:pt x="185853" y="0"/>
                  </a:lnTo>
                  <a:lnTo>
                    <a:pt x="3570145" y="0"/>
                  </a:lnTo>
                  <a:lnTo>
                    <a:pt x="3641269" y="14147"/>
                  </a:lnTo>
                  <a:lnTo>
                    <a:pt x="3701564" y="54435"/>
                  </a:lnTo>
                  <a:lnTo>
                    <a:pt x="3741852" y="114730"/>
                  </a:lnTo>
                  <a:lnTo>
                    <a:pt x="3755999" y="185853"/>
                  </a:lnTo>
                  <a:lnTo>
                    <a:pt x="3755999" y="929245"/>
                  </a:lnTo>
                  <a:lnTo>
                    <a:pt x="3749361" y="978653"/>
                  </a:lnTo>
                  <a:lnTo>
                    <a:pt x="3730625" y="1023050"/>
                  </a:lnTo>
                  <a:lnTo>
                    <a:pt x="3701564" y="1060664"/>
                  </a:lnTo>
                  <a:lnTo>
                    <a:pt x="3663950" y="1089725"/>
                  </a:lnTo>
                  <a:lnTo>
                    <a:pt x="3619553" y="1108461"/>
                  </a:lnTo>
                  <a:lnTo>
                    <a:pt x="3570145" y="11150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7" name="object 7"/>
            <p:cNvSpPr/>
            <p:nvPr/>
          </p:nvSpPr>
          <p:spPr>
            <a:xfrm>
              <a:off x="4572000" y="3013774"/>
              <a:ext cx="3756025" cy="1115695"/>
            </a:xfrm>
            <a:custGeom>
              <a:avLst/>
              <a:gdLst/>
              <a:ahLst/>
              <a:cxnLst/>
              <a:rect l="l" t="t" r="r" b="b"/>
              <a:pathLst>
                <a:path w="3756025" h="1115695">
                  <a:moveTo>
                    <a:pt x="0" y="185853"/>
                  </a:moveTo>
                  <a:lnTo>
                    <a:pt x="6638" y="136446"/>
                  </a:lnTo>
                  <a:lnTo>
                    <a:pt x="25374" y="92049"/>
                  </a:lnTo>
                  <a:lnTo>
                    <a:pt x="54435" y="54435"/>
                  </a:lnTo>
                  <a:lnTo>
                    <a:pt x="92049" y="25374"/>
                  </a:lnTo>
                  <a:lnTo>
                    <a:pt x="136446" y="6638"/>
                  </a:lnTo>
                  <a:lnTo>
                    <a:pt x="185853" y="0"/>
                  </a:lnTo>
                  <a:lnTo>
                    <a:pt x="3570145" y="0"/>
                  </a:lnTo>
                  <a:lnTo>
                    <a:pt x="3641269" y="14147"/>
                  </a:lnTo>
                  <a:lnTo>
                    <a:pt x="3701564" y="54435"/>
                  </a:lnTo>
                  <a:lnTo>
                    <a:pt x="3741852" y="114730"/>
                  </a:lnTo>
                  <a:lnTo>
                    <a:pt x="3755999" y="185853"/>
                  </a:lnTo>
                  <a:lnTo>
                    <a:pt x="3755999" y="929245"/>
                  </a:lnTo>
                  <a:lnTo>
                    <a:pt x="3749361" y="978653"/>
                  </a:lnTo>
                  <a:lnTo>
                    <a:pt x="3730625" y="1023050"/>
                  </a:lnTo>
                  <a:lnTo>
                    <a:pt x="3701564" y="1060664"/>
                  </a:lnTo>
                  <a:lnTo>
                    <a:pt x="3663950" y="1089725"/>
                  </a:lnTo>
                  <a:lnTo>
                    <a:pt x="3619553" y="1108461"/>
                  </a:lnTo>
                  <a:lnTo>
                    <a:pt x="3570145" y="1115099"/>
                  </a:lnTo>
                  <a:lnTo>
                    <a:pt x="185853" y="1115099"/>
                  </a:lnTo>
                  <a:lnTo>
                    <a:pt x="136446" y="1108461"/>
                  </a:lnTo>
                  <a:lnTo>
                    <a:pt x="92049" y="1089725"/>
                  </a:lnTo>
                  <a:lnTo>
                    <a:pt x="54435" y="1060664"/>
                  </a:lnTo>
                  <a:lnTo>
                    <a:pt x="25374" y="1023050"/>
                  </a:lnTo>
                  <a:lnTo>
                    <a:pt x="6638" y="978653"/>
                  </a:lnTo>
                  <a:lnTo>
                    <a:pt x="0" y="929245"/>
                  </a:lnTo>
                  <a:lnTo>
                    <a:pt x="0" y="185853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228115" y="2391045"/>
            <a:ext cx="3209925" cy="755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00"/>
              </a:spcBef>
            </a:pPr>
            <a:r>
              <a:rPr sz="1600" spc="-5" dirty="0">
                <a:solidFill>
                  <a:schemeClr val="accent1"/>
                </a:solidFill>
                <a:latin typeface="Arial MT"/>
                <a:cs typeface="Arial MT"/>
              </a:rPr>
              <a:t>En</a:t>
            </a:r>
            <a:r>
              <a:rPr sz="1600" spc="-50" dirty="0">
                <a:solidFill>
                  <a:schemeClr val="accent1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chemeClr val="accent1"/>
                </a:solidFill>
                <a:latin typeface="Arial MT"/>
                <a:cs typeface="Arial MT"/>
              </a:rPr>
              <a:t>Python,</a:t>
            </a:r>
            <a:endParaRPr sz="1600" dirty="0">
              <a:solidFill>
                <a:schemeClr val="accent1"/>
              </a:solidFill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650" dirty="0">
              <a:solidFill>
                <a:schemeClr val="accent1"/>
              </a:solidFill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</a:pPr>
            <a:r>
              <a:rPr sz="1600" b="1" spc="-30" dirty="0">
                <a:solidFill>
                  <a:schemeClr val="accent1"/>
                </a:solidFill>
                <a:latin typeface="Arial"/>
                <a:cs typeface="Arial"/>
              </a:rPr>
              <a:t>¡Todo</a:t>
            </a:r>
            <a:r>
              <a:rPr sz="1600" b="1" spc="-15" dirty="0">
                <a:solidFill>
                  <a:schemeClr val="accent1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chemeClr val="accent1"/>
                </a:solidFill>
                <a:latin typeface="Arial"/>
                <a:cs typeface="Arial"/>
              </a:rPr>
              <a:t>tipo</a:t>
            </a:r>
            <a:r>
              <a:rPr sz="1600" b="1" spc="-15" dirty="0">
                <a:solidFill>
                  <a:schemeClr val="accent1"/>
                </a:solidFill>
                <a:latin typeface="Arial"/>
                <a:cs typeface="Arial"/>
              </a:rPr>
              <a:t> </a:t>
            </a:r>
            <a:r>
              <a:rPr sz="1600" b="1" spc="-5" dirty="0">
                <a:solidFill>
                  <a:schemeClr val="accent1"/>
                </a:solidFill>
                <a:latin typeface="Arial"/>
                <a:cs typeface="Arial"/>
              </a:rPr>
              <a:t>de</a:t>
            </a:r>
            <a:r>
              <a:rPr sz="1600" b="1" spc="-15" dirty="0">
                <a:solidFill>
                  <a:schemeClr val="accent1"/>
                </a:solidFill>
                <a:latin typeface="Arial"/>
                <a:cs typeface="Arial"/>
              </a:rPr>
              <a:t> </a:t>
            </a:r>
            <a:r>
              <a:rPr sz="1600" b="1" spc="-5" dirty="0">
                <a:solidFill>
                  <a:schemeClr val="accent1"/>
                </a:solidFill>
                <a:latin typeface="Arial"/>
                <a:cs typeface="Arial"/>
              </a:rPr>
              <a:t>datos</a:t>
            </a:r>
            <a:r>
              <a:rPr sz="1600" b="1" spc="-15" dirty="0">
                <a:solidFill>
                  <a:schemeClr val="accent1"/>
                </a:solidFill>
                <a:latin typeface="Arial"/>
                <a:cs typeface="Arial"/>
              </a:rPr>
              <a:t> </a:t>
            </a:r>
            <a:r>
              <a:rPr sz="1600" b="1" spc="-5" dirty="0">
                <a:solidFill>
                  <a:schemeClr val="accent1"/>
                </a:solidFill>
                <a:latin typeface="Arial"/>
                <a:cs typeface="Arial"/>
              </a:rPr>
              <a:t>es</a:t>
            </a:r>
            <a:r>
              <a:rPr sz="1600" b="1" spc="-15" dirty="0">
                <a:solidFill>
                  <a:schemeClr val="accent1"/>
                </a:solidFill>
                <a:latin typeface="Arial"/>
                <a:cs typeface="Arial"/>
              </a:rPr>
              <a:t> </a:t>
            </a:r>
            <a:r>
              <a:rPr sz="1600" b="1" spc="-5" dirty="0">
                <a:solidFill>
                  <a:schemeClr val="accent1"/>
                </a:solidFill>
                <a:latin typeface="Arial"/>
                <a:cs typeface="Arial"/>
              </a:rPr>
              <a:t>un</a:t>
            </a:r>
            <a:r>
              <a:rPr sz="1600" b="1" spc="-10" dirty="0">
                <a:solidFill>
                  <a:schemeClr val="accent1"/>
                </a:solidFill>
                <a:latin typeface="Arial"/>
                <a:cs typeface="Arial"/>
              </a:rPr>
              <a:t> </a:t>
            </a:r>
            <a:r>
              <a:rPr sz="1600" b="1" spc="-5" dirty="0">
                <a:solidFill>
                  <a:schemeClr val="accent1"/>
                </a:solidFill>
                <a:latin typeface="Arial"/>
                <a:cs typeface="Arial"/>
              </a:rPr>
              <a:t>objeto!</a:t>
            </a:r>
            <a:endParaRPr sz="1600" dirty="0">
              <a:solidFill>
                <a:schemeClr val="accent1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D6A2E7-CE01-4B7E-95EE-FAAF4BDBFF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190750"/>
            <a:ext cx="4495800" cy="969771"/>
          </a:xfrm>
        </p:spPr>
        <p:txBody>
          <a:bodyPr/>
          <a:lstStyle/>
          <a:p>
            <a:r>
              <a:rPr lang="es-MX" dirty="0"/>
              <a:t>Funciones en Python</a:t>
            </a:r>
            <a:endParaRPr lang="es-CL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8CA779CD-5852-0DDE-19AC-5BA191E22F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7800" y="467870"/>
            <a:ext cx="3886200" cy="46640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36972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61524" y="83360"/>
            <a:ext cx="281622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10" dirty="0">
                <a:solidFill>
                  <a:srgbClr val="FFFFFF"/>
                </a:solidFill>
                <a:latin typeface="Arial MT"/>
                <a:cs typeface="Arial MT"/>
              </a:rPr>
              <a:t>Python</a:t>
            </a:r>
            <a:r>
              <a:rPr sz="3000" spc="-9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FFFFFF"/>
                </a:solidFill>
                <a:latin typeface="Arial MT"/>
                <a:cs typeface="Arial MT"/>
              </a:rPr>
              <a:t>científico</a:t>
            </a:r>
            <a:endParaRPr sz="30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4725" y="912572"/>
            <a:ext cx="216789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5" dirty="0">
                <a:latin typeface="Arial"/>
                <a:cs typeface="Arial"/>
              </a:rPr>
              <a:t>Funciones</a:t>
            </a:r>
            <a:r>
              <a:rPr sz="1600" b="1" spc="-75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estándares</a:t>
            </a:r>
            <a:endParaRPr sz="16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67507" y="4803852"/>
            <a:ext cx="3585845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-5" dirty="0">
                <a:latin typeface="Arial MT"/>
                <a:cs typeface="Arial MT"/>
              </a:rPr>
              <a:t>Fuente:</a:t>
            </a:r>
            <a:r>
              <a:rPr sz="600" spc="254" dirty="0">
                <a:latin typeface="Arial MT"/>
                <a:cs typeface="Arial MT"/>
              </a:rPr>
              <a:t> </a:t>
            </a:r>
            <a:r>
              <a:rPr sz="600" spc="-10" dirty="0">
                <a:latin typeface="Arial MT"/>
                <a:cs typeface="Arial MT"/>
              </a:rPr>
              <a:t>https://stackoverflow.com/questions/8608587/finding-the-source-code-for-built-in-python-functions</a:t>
            </a:r>
            <a:endParaRPr sz="600" dirty="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4037" y="1289109"/>
            <a:ext cx="7316916" cy="323558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57400" y="164315"/>
            <a:ext cx="4547379" cy="47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>
                <a:solidFill>
                  <a:schemeClr val="tx1"/>
                </a:solidFill>
              </a:rPr>
              <a:t>Python</a:t>
            </a:r>
            <a:r>
              <a:rPr spc="-90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científico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912572"/>
            <a:ext cx="2195195" cy="755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5" dirty="0">
                <a:latin typeface="Arial"/>
                <a:cs typeface="Arial"/>
              </a:rPr>
              <a:t>Funciones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650">
              <a:latin typeface="Arial"/>
              <a:cs typeface="Arial"/>
            </a:endParaRPr>
          </a:p>
          <a:p>
            <a:pPr marL="469900" indent="-351790">
              <a:lnSpc>
                <a:spcPct val="100000"/>
              </a:lnSpc>
              <a:buChar char="●"/>
              <a:tabLst>
                <a:tab pos="469265" algn="l"/>
                <a:tab pos="469900" algn="l"/>
              </a:tabLst>
            </a:pPr>
            <a:r>
              <a:rPr sz="1600" spc="-5" dirty="0">
                <a:latin typeface="Arial MT"/>
                <a:cs typeface="Arial MT"/>
              </a:rPr>
              <a:t>Estructura</a:t>
            </a:r>
            <a:r>
              <a:rPr sz="1600" spc="-7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general: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4725" y="3827222"/>
            <a:ext cx="2195195" cy="755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5" dirty="0">
                <a:latin typeface="Arial"/>
                <a:cs typeface="Arial"/>
              </a:rPr>
              <a:t>*Funciones</a:t>
            </a:r>
            <a:r>
              <a:rPr sz="1600" b="1" spc="-50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lambda: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650">
              <a:latin typeface="Arial"/>
              <a:cs typeface="Arial"/>
            </a:endParaRPr>
          </a:p>
          <a:p>
            <a:pPr marL="469900" indent="-351790">
              <a:lnSpc>
                <a:spcPct val="100000"/>
              </a:lnSpc>
              <a:buChar char="●"/>
              <a:tabLst>
                <a:tab pos="469265" algn="l"/>
                <a:tab pos="469900" algn="l"/>
              </a:tabLst>
            </a:pPr>
            <a:r>
              <a:rPr sz="1600" spc="-5" dirty="0">
                <a:latin typeface="Arial MT"/>
                <a:cs typeface="Arial MT"/>
              </a:rPr>
              <a:t>Estructura</a:t>
            </a:r>
            <a:r>
              <a:rPr sz="1600" spc="-7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general: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690675" y="953887"/>
            <a:ext cx="10668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22275" indent="-409575">
              <a:lnSpc>
                <a:spcPct val="100000"/>
              </a:lnSpc>
              <a:spcBef>
                <a:spcPts val="100"/>
              </a:spcBef>
              <a:buFont typeface="MS PGothic"/>
              <a:buChar char="➔"/>
              <a:tabLst>
                <a:tab pos="421640" algn="l"/>
                <a:tab pos="422275" algn="l"/>
              </a:tabLst>
            </a:pPr>
            <a:r>
              <a:rPr sz="1400" spc="-5" dirty="0">
                <a:solidFill>
                  <a:srgbClr val="980000"/>
                </a:solidFill>
                <a:latin typeface="Arial MT"/>
                <a:cs typeface="Arial MT"/>
              </a:rPr>
              <a:t>Función</a:t>
            </a:r>
            <a:endParaRPr sz="1400" dirty="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690675" y="2660767"/>
            <a:ext cx="1116965" cy="2052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22275" indent="-409575">
              <a:lnSpc>
                <a:spcPct val="100000"/>
              </a:lnSpc>
              <a:spcBef>
                <a:spcPts val="100"/>
              </a:spcBef>
              <a:buFont typeface="MS PGothic"/>
              <a:buChar char="➔"/>
              <a:tabLst>
                <a:tab pos="421640" algn="l"/>
                <a:tab pos="422275" algn="l"/>
              </a:tabLst>
            </a:pPr>
            <a:r>
              <a:rPr sz="1400" spc="-5" dirty="0">
                <a:solidFill>
                  <a:srgbClr val="274E13"/>
                </a:solidFill>
                <a:latin typeface="Arial MT"/>
                <a:cs typeface="Arial MT"/>
              </a:rPr>
              <a:t>Llamado</a:t>
            </a:r>
            <a:endParaRPr sz="1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Char char="➔"/>
            </a:pPr>
            <a:endParaRPr sz="1450">
              <a:latin typeface="Arial MT"/>
              <a:cs typeface="Arial MT"/>
            </a:endParaRPr>
          </a:p>
          <a:p>
            <a:pPr marL="422275" indent="-409575">
              <a:lnSpc>
                <a:spcPct val="100000"/>
              </a:lnSpc>
              <a:buFont typeface="MS PGothic"/>
              <a:buChar char="➔"/>
              <a:tabLst>
                <a:tab pos="421640" algn="l"/>
                <a:tab pos="422275" algn="l"/>
              </a:tabLst>
            </a:pPr>
            <a:r>
              <a:rPr sz="1400" spc="-5" dirty="0">
                <a:solidFill>
                  <a:srgbClr val="063763"/>
                </a:solidFill>
                <a:latin typeface="Arial MT"/>
                <a:cs typeface="Arial MT"/>
              </a:rPr>
              <a:t>Salida</a:t>
            </a:r>
            <a:endParaRPr sz="1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har char="➔"/>
            </a:pPr>
            <a:endParaRPr sz="2150">
              <a:latin typeface="Arial MT"/>
              <a:cs typeface="Arial MT"/>
            </a:endParaRPr>
          </a:p>
          <a:p>
            <a:pPr marL="422275" indent="-409575">
              <a:lnSpc>
                <a:spcPct val="100000"/>
              </a:lnSpc>
              <a:buFont typeface="MS PGothic"/>
              <a:buChar char="➔"/>
              <a:tabLst>
                <a:tab pos="421640" algn="l"/>
                <a:tab pos="422275" algn="l"/>
              </a:tabLst>
            </a:pPr>
            <a:r>
              <a:rPr sz="1400" spc="-5" dirty="0">
                <a:solidFill>
                  <a:srgbClr val="980000"/>
                </a:solidFill>
                <a:latin typeface="Arial MT"/>
                <a:cs typeface="Arial MT"/>
              </a:rPr>
              <a:t>Función</a:t>
            </a:r>
            <a:endParaRPr sz="1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Char char="➔"/>
            </a:pPr>
            <a:endParaRPr sz="1450">
              <a:latin typeface="Arial MT"/>
              <a:cs typeface="Arial MT"/>
            </a:endParaRPr>
          </a:p>
          <a:p>
            <a:pPr marL="422275" indent="-409575">
              <a:lnSpc>
                <a:spcPct val="100000"/>
              </a:lnSpc>
              <a:buFont typeface="MS PGothic"/>
              <a:buChar char="➔"/>
              <a:tabLst>
                <a:tab pos="421640" algn="l"/>
                <a:tab pos="422275" algn="l"/>
              </a:tabLst>
            </a:pPr>
            <a:r>
              <a:rPr sz="1400" spc="-5" dirty="0">
                <a:solidFill>
                  <a:srgbClr val="274E13"/>
                </a:solidFill>
                <a:latin typeface="Arial MT"/>
                <a:cs typeface="Arial MT"/>
              </a:rPr>
              <a:t>Llamado</a:t>
            </a:r>
            <a:endParaRPr sz="1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Char char="➔"/>
            </a:pPr>
            <a:endParaRPr sz="1450">
              <a:latin typeface="Arial MT"/>
              <a:cs typeface="Arial MT"/>
            </a:endParaRPr>
          </a:p>
          <a:p>
            <a:pPr marL="422275" indent="-409575">
              <a:lnSpc>
                <a:spcPct val="100000"/>
              </a:lnSpc>
              <a:buFont typeface="MS PGothic"/>
              <a:buChar char="➔"/>
              <a:tabLst>
                <a:tab pos="421640" algn="l"/>
                <a:tab pos="422275" algn="l"/>
              </a:tabLst>
            </a:pPr>
            <a:r>
              <a:rPr sz="1400" spc="-5" dirty="0">
                <a:solidFill>
                  <a:srgbClr val="063763"/>
                </a:solidFill>
                <a:latin typeface="Arial MT"/>
                <a:cs typeface="Arial MT"/>
              </a:rPr>
              <a:t>Salida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096712" y="748712"/>
            <a:ext cx="3025775" cy="4138295"/>
            <a:chOff x="3096712" y="748712"/>
            <a:chExt cx="3025775" cy="4138295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82550" y="3701700"/>
              <a:ext cx="1622689" cy="1070974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159300" y="3602299"/>
              <a:ext cx="2825750" cy="400685"/>
            </a:xfrm>
            <a:custGeom>
              <a:avLst/>
              <a:gdLst/>
              <a:ahLst/>
              <a:cxnLst/>
              <a:rect l="l" t="t" r="r" b="b"/>
              <a:pathLst>
                <a:path w="2825750" h="400685">
                  <a:moveTo>
                    <a:pt x="0" y="0"/>
                  </a:moveTo>
                  <a:lnTo>
                    <a:pt x="2825399" y="0"/>
                  </a:lnTo>
                  <a:lnTo>
                    <a:pt x="2825399" y="400199"/>
                  </a:lnTo>
                  <a:lnTo>
                    <a:pt x="0" y="400199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98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181200" y="4075637"/>
              <a:ext cx="2825750" cy="323215"/>
            </a:xfrm>
            <a:custGeom>
              <a:avLst/>
              <a:gdLst/>
              <a:ahLst/>
              <a:cxnLst/>
              <a:rect l="l" t="t" r="r" b="b"/>
              <a:pathLst>
                <a:path w="2825750" h="323214">
                  <a:moveTo>
                    <a:pt x="0" y="0"/>
                  </a:moveTo>
                  <a:lnTo>
                    <a:pt x="2825399" y="0"/>
                  </a:lnTo>
                  <a:lnTo>
                    <a:pt x="2825399" y="323099"/>
                  </a:lnTo>
                  <a:lnTo>
                    <a:pt x="0" y="323099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274E1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159300" y="4471899"/>
              <a:ext cx="2825750" cy="400685"/>
            </a:xfrm>
            <a:custGeom>
              <a:avLst/>
              <a:gdLst/>
              <a:ahLst/>
              <a:cxnLst/>
              <a:rect l="l" t="t" r="r" b="b"/>
              <a:pathLst>
                <a:path w="2825750" h="400685">
                  <a:moveTo>
                    <a:pt x="0" y="0"/>
                  </a:moveTo>
                  <a:lnTo>
                    <a:pt x="2825399" y="0"/>
                  </a:lnTo>
                  <a:lnTo>
                    <a:pt x="2825399" y="400199"/>
                  </a:lnTo>
                  <a:lnTo>
                    <a:pt x="0" y="400199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06376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02075" y="812700"/>
              <a:ext cx="2783650" cy="265670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3112600" y="762999"/>
              <a:ext cx="2995295" cy="1877695"/>
            </a:xfrm>
            <a:custGeom>
              <a:avLst/>
              <a:gdLst/>
              <a:ahLst/>
              <a:cxnLst/>
              <a:rect l="l" t="t" r="r" b="b"/>
              <a:pathLst>
                <a:path w="2995295" h="1877695">
                  <a:moveTo>
                    <a:pt x="0" y="0"/>
                  </a:moveTo>
                  <a:lnTo>
                    <a:pt x="2995199" y="0"/>
                  </a:lnTo>
                  <a:lnTo>
                    <a:pt x="2995199" y="1877699"/>
                  </a:lnTo>
                  <a:lnTo>
                    <a:pt x="0" y="1877699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98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111000" y="2688474"/>
              <a:ext cx="2995295" cy="431165"/>
            </a:xfrm>
            <a:custGeom>
              <a:avLst/>
              <a:gdLst/>
              <a:ahLst/>
              <a:cxnLst/>
              <a:rect l="l" t="t" r="r" b="b"/>
              <a:pathLst>
                <a:path w="2995295" h="431164">
                  <a:moveTo>
                    <a:pt x="0" y="0"/>
                  </a:moveTo>
                  <a:lnTo>
                    <a:pt x="2995199" y="0"/>
                  </a:lnTo>
                  <a:lnTo>
                    <a:pt x="2995199" y="431099"/>
                  </a:lnTo>
                  <a:lnTo>
                    <a:pt x="0" y="431099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274E1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111000" y="3168500"/>
              <a:ext cx="2995295" cy="385445"/>
            </a:xfrm>
            <a:custGeom>
              <a:avLst/>
              <a:gdLst/>
              <a:ahLst/>
              <a:cxnLst/>
              <a:rect l="l" t="t" r="r" b="b"/>
              <a:pathLst>
                <a:path w="2995295" h="385445">
                  <a:moveTo>
                    <a:pt x="0" y="0"/>
                  </a:moveTo>
                  <a:lnTo>
                    <a:pt x="2995199" y="0"/>
                  </a:lnTo>
                  <a:lnTo>
                    <a:pt x="2995199" y="384899"/>
                  </a:lnTo>
                  <a:lnTo>
                    <a:pt x="0" y="384899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06376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95600" y="210262"/>
            <a:ext cx="3691749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Python</a:t>
            </a:r>
            <a:r>
              <a:rPr spc="-90" dirty="0"/>
              <a:t> </a:t>
            </a:r>
            <a:r>
              <a:rPr dirty="0"/>
              <a:t>científico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912572"/>
            <a:ext cx="4808855" cy="27520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indent="-351790">
              <a:lnSpc>
                <a:spcPct val="100000"/>
              </a:lnSpc>
              <a:spcBef>
                <a:spcPts val="100"/>
              </a:spcBef>
              <a:buFont typeface="Arial MT"/>
              <a:buChar char="●"/>
              <a:tabLst>
                <a:tab pos="469265" algn="l"/>
                <a:tab pos="469900" algn="l"/>
              </a:tabLst>
            </a:pPr>
            <a:r>
              <a:rPr sz="1600" b="1" spc="-5" dirty="0">
                <a:latin typeface="Arial"/>
                <a:cs typeface="Arial"/>
              </a:rPr>
              <a:t>Python</a:t>
            </a:r>
            <a:r>
              <a:rPr sz="1600" b="1" spc="-5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(ejercicios)</a:t>
            </a:r>
            <a:endParaRPr sz="16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650" dirty="0">
              <a:latin typeface="Arial"/>
              <a:cs typeface="Arial"/>
            </a:endParaRPr>
          </a:p>
          <a:p>
            <a:pPr marL="181610" indent="-169545">
              <a:lnSpc>
                <a:spcPct val="100000"/>
              </a:lnSpc>
              <a:buAutoNum type="romanLcParenR"/>
              <a:tabLst>
                <a:tab pos="182245" algn="l"/>
              </a:tabLst>
            </a:pPr>
            <a:r>
              <a:rPr sz="1600" spc="-5" dirty="0">
                <a:latin typeface="Arial MT"/>
                <a:cs typeface="Arial MT"/>
              </a:rPr>
              <a:t>Imprimir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“hola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mundo”</a:t>
            </a:r>
          </a:p>
          <a:p>
            <a:pPr>
              <a:lnSpc>
                <a:spcPct val="100000"/>
              </a:lnSpc>
              <a:spcBef>
                <a:spcPts val="10"/>
              </a:spcBef>
              <a:buFont typeface="Arial MT"/>
              <a:buAutoNum type="romanLcParenR"/>
            </a:pPr>
            <a:endParaRPr sz="1650" dirty="0">
              <a:latin typeface="Arial MT"/>
              <a:cs typeface="Arial MT"/>
            </a:endParaRPr>
          </a:p>
          <a:p>
            <a:pPr marL="226695" indent="-214629">
              <a:lnSpc>
                <a:spcPct val="100000"/>
              </a:lnSpc>
              <a:buAutoNum type="romanLcParenR"/>
              <a:tabLst>
                <a:tab pos="227329" algn="l"/>
              </a:tabLst>
            </a:pPr>
            <a:r>
              <a:rPr sz="1600" spc="-5" dirty="0">
                <a:latin typeface="Arial MT"/>
                <a:cs typeface="Arial MT"/>
              </a:rPr>
              <a:t>Calcular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el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área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de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un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círculo.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Considerar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π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=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3.14</a:t>
            </a:r>
            <a:endParaRPr sz="16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 MT"/>
              <a:buAutoNum type="romanLcParenR"/>
            </a:pPr>
            <a:endParaRPr sz="1650" dirty="0">
              <a:latin typeface="Arial MT"/>
              <a:cs typeface="Arial MT"/>
            </a:endParaRPr>
          </a:p>
          <a:p>
            <a:pPr marL="271780" indent="-259715">
              <a:lnSpc>
                <a:spcPct val="100000"/>
              </a:lnSpc>
              <a:buAutoNum type="romanLcParenR"/>
              <a:tabLst>
                <a:tab pos="272415" algn="l"/>
              </a:tabLst>
            </a:pPr>
            <a:r>
              <a:rPr sz="1600" spc="-5" dirty="0">
                <a:latin typeface="Arial MT"/>
                <a:cs typeface="Arial MT"/>
              </a:rPr>
              <a:t>Obtener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el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mayor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entre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2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números</a:t>
            </a:r>
            <a:endParaRPr sz="16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Arial MT"/>
              <a:buAutoNum type="romanLcParenR"/>
            </a:pPr>
            <a:endParaRPr sz="1650" dirty="0">
              <a:latin typeface="Arial MT"/>
              <a:cs typeface="Arial MT"/>
            </a:endParaRPr>
          </a:p>
          <a:p>
            <a:pPr marL="282575" indent="-270510">
              <a:lnSpc>
                <a:spcPct val="100000"/>
              </a:lnSpc>
              <a:buAutoNum type="romanLcParenR"/>
              <a:tabLst>
                <a:tab pos="283210" algn="l"/>
              </a:tabLst>
            </a:pPr>
            <a:r>
              <a:rPr sz="1600" spc="-5" dirty="0">
                <a:latin typeface="Arial MT"/>
                <a:cs typeface="Arial MT"/>
              </a:rPr>
              <a:t>Imprimir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solo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si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el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número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es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mayor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que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cero</a:t>
            </a:r>
            <a:endParaRPr lang="es-MX" sz="1600" dirty="0">
              <a:latin typeface="Arial MT"/>
              <a:cs typeface="Arial MT"/>
            </a:endParaRPr>
          </a:p>
          <a:p>
            <a:pPr marL="282575" indent="-270510">
              <a:lnSpc>
                <a:spcPct val="100000"/>
              </a:lnSpc>
              <a:buAutoNum type="romanLcParenR"/>
              <a:tabLst>
                <a:tab pos="283210" algn="l"/>
              </a:tabLst>
            </a:pPr>
            <a:endParaRPr lang="es-CL" sz="1600" dirty="0">
              <a:latin typeface="Arial MT"/>
              <a:cs typeface="Arial MT"/>
            </a:endParaRPr>
          </a:p>
          <a:p>
            <a:pPr marL="282575" indent="-270510">
              <a:lnSpc>
                <a:spcPct val="100000"/>
              </a:lnSpc>
              <a:buAutoNum type="romanLcParenR"/>
              <a:tabLst>
                <a:tab pos="283210" algn="l"/>
              </a:tabLst>
            </a:pPr>
            <a:r>
              <a:rPr lang="es-CL" sz="1600" dirty="0">
                <a:latin typeface="Arial MT"/>
                <a:cs typeface="Arial MT"/>
              </a:rPr>
              <a:t>Calcular factorial</a:t>
            </a:r>
            <a:endParaRPr sz="1600" dirty="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4725" y="3827222"/>
            <a:ext cx="592010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u="heavy" spc="-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Bonus</a:t>
            </a:r>
            <a:r>
              <a:rPr sz="1600" spc="-5" dirty="0">
                <a:latin typeface="Arial MT"/>
                <a:cs typeface="Arial MT"/>
              </a:rPr>
              <a:t>: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sumar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todos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los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números pares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de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un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vector</a:t>
            </a:r>
            <a:r>
              <a:rPr sz="1600" spc="-5" dirty="0">
                <a:latin typeface="Arial MT"/>
                <a:cs typeface="Arial MT"/>
              </a:rPr>
              <a:t> de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tamaño</a:t>
            </a:r>
            <a:r>
              <a:rPr sz="1600" spc="30" dirty="0">
                <a:latin typeface="Arial MT"/>
                <a:cs typeface="Arial MT"/>
              </a:rPr>
              <a:t> </a:t>
            </a:r>
            <a:r>
              <a:rPr sz="1600" i="1" dirty="0">
                <a:latin typeface="Arial"/>
                <a:cs typeface="Arial"/>
              </a:rPr>
              <a:t>n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stela de condensación">
  <a:themeElements>
    <a:clrScheme name="Estela de condensación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Estela de condensación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tela de condensación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TM04033937[[fn=Estela de condensación]]</Template>
  <TotalTime>172</TotalTime>
  <Words>448</Words>
  <Application>Microsoft Office PowerPoint</Application>
  <PresentationFormat>Presentación en pantalla (16:9)</PresentationFormat>
  <Paragraphs>114</Paragraphs>
  <Slides>17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2" baseType="lpstr">
      <vt:lpstr>MS PGothic</vt:lpstr>
      <vt:lpstr>Arial</vt:lpstr>
      <vt:lpstr>Arial MT</vt:lpstr>
      <vt:lpstr>Century Gothic</vt:lpstr>
      <vt:lpstr>Estela de condensación</vt:lpstr>
      <vt:lpstr>Computación gráfica y aplicaciones:  Introducción a la computacion gráfica Ayudantía 1</vt:lpstr>
      <vt:lpstr>Python</vt:lpstr>
      <vt:lpstr>Elementos básicos de python</vt:lpstr>
      <vt:lpstr>Tipos de datos</vt:lpstr>
      <vt:lpstr>Operaciones básicas</vt:lpstr>
      <vt:lpstr>Asignación y operadores lógicos</vt:lpstr>
      <vt:lpstr>Python</vt:lpstr>
      <vt:lpstr>Python científico</vt:lpstr>
      <vt:lpstr>Estructuras de control</vt:lpstr>
      <vt:lpstr>Estructuras de control</vt:lpstr>
      <vt:lpstr>Herramientas de programación científica</vt:lpstr>
      <vt:lpstr>Presentación de PowerPoint</vt:lpstr>
      <vt:lpstr>Python científico</vt:lpstr>
      <vt:lpstr>Funciones en Python</vt:lpstr>
      <vt:lpstr>Presentación de PowerPoint</vt:lpstr>
      <vt:lpstr>Python científico</vt:lpstr>
      <vt:lpstr>Python científico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Cap_1</dc:title>
  <dc:creator>Alan Molina</dc:creator>
  <cp:lastModifiedBy>Alan Molina</cp:lastModifiedBy>
  <cp:revision>5</cp:revision>
  <dcterms:created xsi:type="dcterms:W3CDTF">2024-04-04T02:55:14Z</dcterms:created>
  <dcterms:modified xsi:type="dcterms:W3CDTF">2024-04-04T12:27:03Z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  <property fmtid="{D5CDD505-2E9C-101B-9397-08002B2CF9AE}" pid="3" name="LastSaved">
    <vt:filetime>2024-04-04T00:00:00Z</vt:filetime>
  </property>
</Properties>
</file>